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a92daa83494a89" /><Relationship Type="http://schemas.openxmlformats.org/officeDocument/2006/relationships/extended-properties" Target="/docProps/app.xml" Id="R933f5843c85849ef" /><Relationship Type="http://schemas.openxmlformats.org/officeDocument/2006/relationships/officeDocument" Target="/ppt/presentation.xml" Id="Rd3b2114e08bf4b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9141ce6eb04ab4"/>
  </p:sldMasterIdLst>
  <p:notesMasterIdLst>
    <p:notesMasterId xmlns:r="http://schemas.openxmlformats.org/officeDocument/2006/relationships" r:id="R5e797e7d61e746e7"/>
  </p:notesMasterIdLst>
  <p:sldIdLst>
    <p:sldId xmlns:r="http://schemas.openxmlformats.org/officeDocument/2006/relationships" id="256" r:id="R8138fe9e1bcc4c0d"/>
    <p:sldId xmlns:r="http://schemas.openxmlformats.org/officeDocument/2006/relationships" id="257" r:id="Re43aa72c29784e2c"/>
    <p:sldId xmlns:r="http://schemas.openxmlformats.org/officeDocument/2006/relationships" id="258" r:id="R7b8a6747ffa34c64"/>
    <p:sldId xmlns:r="http://schemas.openxmlformats.org/officeDocument/2006/relationships" id="259" r:id="Raa580940aba54621"/>
    <p:sldId xmlns:r="http://schemas.openxmlformats.org/officeDocument/2006/relationships" id="260" r:id="R7f204c44f0ee494a"/>
    <p:sldId xmlns:r="http://schemas.openxmlformats.org/officeDocument/2006/relationships" id="261" r:id="Rdbe41fc41b7d4c39"/>
    <p:sldId xmlns:r="http://schemas.openxmlformats.org/officeDocument/2006/relationships" id="262" r:id="Ra8ebb6f3c26b4183"/>
    <p:sldId xmlns:r="http://schemas.openxmlformats.org/officeDocument/2006/relationships" id="263" r:id="R110eaf08afc34e2f"/>
    <p:sldId xmlns:r="http://schemas.openxmlformats.org/officeDocument/2006/relationships" id="264" r:id="Rfd32be3ee955489d"/>
    <p:sldId xmlns:r="http://schemas.openxmlformats.org/officeDocument/2006/relationships" id="265" r:id="R46d51e5a181243d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141ce6eb04ab4" /><Relationship Type="http://schemas.openxmlformats.org/officeDocument/2006/relationships/theme" Target="/ppt/theme/theme1.xml" Id="R166a5f09239b427d" /><Relationship Type="http://schemas.openxmlformats.org/officeDocument/2006/relationships/notesMaster" Target="/ppt/notesMasters/notesMaster1.xml" Id="R5e797e7d61e746e7" /><Relationship Type="http://schemas.openxmlformats.org/officeDocument/2006/relationships/presProps" Target="/ppt/presProps.xml" Id="Rc318caa59dbe4046" /><Relationship Type="http://schemas.openxmlformats.org/officeDocument/2006/relationships/viewProps" Target="/ppt/viewProps.xml" Id="Rce9c2985d6a04dbb" /><Relationship Type="http://schemas.openxmlformats.org/officeDocument/2006/relationships/tableStyles" Target="/ppt/tableStyles.xml" Id="Rf88fb2119aad4816" /><Relationship Type="http://schemas.openxmlformats.org/officeDocument/2006/relationships/slide" Target="/ppt/slides/slide1.xml" Id="R8138fe9e1bcc4c0d" /><Relationship Type="http://schemas.openxmlformats.org/officeDocument/2006/relationships/slide" Target="/ppt/slides/slide2.xml" Id="Re43aa72c29784e2c" /><Relationship Type="http://schemas.openxmlformats.org/officeDocument/2006/relationships/slide" Target="/ppt/slides/slide3.xml" Id="R7b8a6747ffa34c64" /><Relationship Type="http://schemas.openxmlformats.org/officeDocument/2006/relationships/slide" Target="/ppt/slides/slide4.xml" Id="Raa580940aba54621" /><Relationship Type="http://schemas.openxmlformats.org/officeDocument/2006/relationships/slide" Target="/ppt/slides/slide5.xml" Id="R7f204c44f0ee494a" /><Relationship Type="http://schemas.openxmlformats.org/officeDocument/2006/relationships/slide" Target="/ppt/slides/slide6.xml" Id="Rdbe41fc41b7d4c39" /><Relationship Type="http://schemas.openxmlformats.org/officeDocument/2006/relationships/slide" Target="/ppt/slides/slide7.xml" Id="Ra8ebb6f3c26b4183" /><Relationship Type="http://schemas.openxmlformats.org/officeDocument/2006/relationships/slide" Target="/ppt/slides/slide8.xml" Id="R110eaf08afc34e2f" /><Relationship Type="http://schemas.openxmlformats.org/officeDocument/2006/relationships/slide" Target="/ppt/slides/slide9.xml" Id="Rfd32be3ee955489d" /><Relationship Type="http://schemas.openxmlformats.org/officeDocument/2006/relationships/slide" Target="/ppt/slides/slide10.xml" Id="R46d51e5a181243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5bc29d9e61e4a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8bfff0cf294a20" /><Relationship Type="http://schemas.openxmlformats.org/officeDocument/2006/relationships/notesMaster" Target="/ppt/notesMasters/notesMaster1.xml" Id="R6c2ce6d8309f45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2e1a251dc84943" /><Relationship Type="http://schemas.openxmlformats.org/officeDocument/2006/relationships/notesMaster" Target="/ppt/notesMasters/notesMaster1.xml" Id="R51524f837f0343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d6f23b45244039" /><Relationship Type="http://schemas.openxmlformats.org/officeDocument/2006/relationships/notesMaster" Target="/ppt/notesMasters/notesMaster1.xml" Id="Rf0e0bce27b7048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aed7c0b4f94033" /><Relationship Type="http://schemas.openxmlformats.org/officeDocument/2006/relationships/notesMaster" Target="/ppt/notesMasters/notesMaster1.xml" Id="R8cec3d718e4244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447acaf9fd4d85" /><Relationship Type="http://schemas.openxmlformats.org/officeDocument/2006/relationships/notesMaster" Target="/ppt/notesMasters/notesMaster1.xml" Id="Rc32bb595476c4d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0d43aa9f8147fd" /><Relationship Type="http://schemas.openxmlformats.org/officeDocument/2006/relationships/notesMaster" Target="/ppt/notesMasters/notesMaster1.xml" Id="R4107abac10a44b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afd6a11bf54612" /><Relationship Type="http://schemas.openxmlformats.org/officeDocument/2006/relationships/notesMaster" Target="/ppt/notesMasters/notesMaster1.xml" Id="R0a4e01bcb91a47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50d45a6f8445b3" /><Relationship Type="http://schemas.openxmlformats.org/officeDocument/2006/relationships/notesMaster" Target="/ppt/notesMasters/notesMaster1.xml" Id="Rc237e596da554c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5cb1c12a1c40e1" /><Relationship Type="http://schemas.openxmlformats.org/officeDocument/2006/relationships/notesMaster" Target="/ppt/notesMasters/notesMaster1.xml" Id="R149b2da562ad41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fcb346a3ed42a3" /><Relationship Type="http://schemas.openxmlformats.org/officeDocument/2006/relationships/notesMaster" Target="/ppt/notesMasters/notesMaster1.xml" Id="Rbf1ac2a2acb441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7003d582c40d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6c56c561ced4496" /><Relationship Type="http://schemas.openxmlformats.org/officeDocument/2006/relationships/slideLayout" Target="/ppt/slideLayouts/slideLayout2.xml" Id="Rfb84a89a4a7d4f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84a89a4a7d4f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7c4a35ef5a438f" /><Relationship Type="http://schemas.openxmlformats.org/officeDocument/2006/relationships/notesSlide" Target="/ppt/notesSlides/notesSlide1.xml" Id="R053fcc7abc8c44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9c82102c494928" /><Relationship Type="http://schemas.openxmlformats.org/officeDocument/2006/relationships/notesSlide" Target="/ppt/notesSlides/notesSlide2.xml" Id="Rf38f06d1be3a4b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dcd8aaffcf4113" /><Relationship Type="http://schemas.openxmlformats.org/officeDocument/2006/relationships/notesSlide" Target="/ppt/notesSlides/notesSlide3.xml" Id="R10cf1c8d49e54d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86fad918d34406" /><Relationship Type="http://schemas.openxmlformats.org/officeDocument/2006/relationships/chart" Target="/ppt/slides/charts/chart1.xml" Id="R56a4700049204c4c" /><Relationship Type="http://schemas.openxmlformats.org/officeDocument/2006/relationships/notesSlide" Target="/ppt/notesSlides/notesSlide4.xml" Id="R70bd5b48803b43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f1608927864912" /><Relationship Type="http://schemas.openxmlformats.org/officeDocument/2006/relationships/notesSlide" Target="/ppt/notesSlides/notesSlide5.xml" Id="Rd5ec934ceb2445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3dc85d828e4f66" /><Relationship Type="http://schemas.openxmlformats.org/officeDocument/2006/relationships/notesSlide" Target="/ppt/notesSlides/notesSlide6.xml" Id="R9109b37df6c146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e573c18e214a1a" /><Relationship Type="http://schemas.openxmlformats.org/officeDocument/2006/relationships/notesSlide" Target="/ppt/notesSlides/notesSlide7.xml" Id="R1db6554e64d241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99dc1cf5674067" /><Relationship Type="http://schemas.openxmlformats.org/officeDocument/2006/relationships/notesSlide" Target="/ppt/notesSlides/notesSlide8.xml" Id="Rbec8266639034a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c443f2b62d49ea" /><Relationship Type="http://schemas.openxmlformats.org/officeDocument/2006/relationships/notesSlide" Target="/ppt/notesSlides/notesSlide9.xml" Id="R51f157ce127a42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f06594ddb446c0" /><Relationship Type="http://schemas.openxmlformats.org/officeDocument/2006/relationships/notesSlide" Target="/ppt/notesSlides/notesSlide10.xml" Id="Rbb721022fab4493b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Top 5 flagged clusters by total funding exposure (CAD millions)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Funding exposure</c:v>
          </c:tx>
          <c:cat>
            <c:strLit>
              <c:ptCount val="5"/>
              <c:pt idx="0">
                <c:v>#141</c:v>
              </c:pt>
              <c:pt idx="1">
                <c:v>#336</c:v>
              </c:pt>
              <c:pt idx="2">
                <c:v>#17</c:v>
              </c:pt>
              <c:pt idx="3">
                <c:v>#436</c:v>
              </c:pt>
              <c:pt idx="4">
                <c:v>#231</c:v>
              </c:pt>
            </c:strLit>
          </c:cat>
          <c:val>
            <c:numLit>
              <c:formatCode/>
              <c:ptCount val="5"/>
              <c:pt idx="0">
                <c:v>89</c:v>
              </c:pt>
              <c:pt idx="1">
                <c:v>50</c:v>
              </c:pt>
              <c:pt idx="2">
                <c:v>43</c:v>
              </c:pt>
              <c:pt idx="3">
                <c:v>13</c:v>
              </c:pt>
              <c:pt idx="4">
                <c:v>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Funding Loops Risk Scanner-title">
            <a:extLst xmlns:a="http://schemas.openxmlformats.org/drawingml/2006/main">
              <a:ext uri="{FF2B5EF4-FFF2-40B4-BE49-F238E27FC236}">
                <a16:creationId xmlns:a16="http://schemas.microsoft.com/office/drawing/2014/main" id="{1BF52D4D-8D7A-43C1-A785-C41974A5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16611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Funding Loops Risk Scanner</a:t>
            </a:r>
          </a:p>
        </p:txBody>
      </p:sp>
      <p:sp>
        <p:nvSpPr>
          <p:cNvPr id="2" name="Funding Loops Risk Scanner-rule">
            <a:extLst xmlns:a="http://schemas.openxmlformats.org/drawingml/2006/main">
              <a:ext uri="{FF2B5EF4-FFF2-40B4-BE49-F238E27FC236}">
                <a16:creationId xmlns:a16="http://schemas.microsoft.com/office/drawing/2014/main" id="{A81C2F7F-1695-43AA-82C0-C687F497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3" name="Funding Loops Risk Scanner-subtitle">
            <a:extLst xmlns:a="http://schemas.openxmlformats.org/drawingml/2006/main">
              <a:ext uri="{FF2B5EF4-FFF2-40B4-BE49-F238E27FC236}">
                <a16:creationId xmlns:a16="http://schemas.microsoft.com/office/drawing/2014/main" id="{0F70535C-CF63-49FE-B620-6B5703B3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975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>
                    <a:alpha val="84000"/>
                  </a:srgbClr>
                </a:solidFill>
              </a:defRPr>
            </a:pPr>
            <a:r>
              <a:rPr sz="1800">
                <a:solidFill>
                  <a:srgbClr val="FFFFFF">
                    <a:alpha val="84000"/>
                  </a:srgbClr>
                </a:solidFill>
              </a:rPr>
              <a:t>Vendor brief built on real CRA, FED, AB, and golden-record evidence from the GovAlta hackathon dataset.</a:t>
            </a:r>
          </a:p>
        </p:txBody>
      </p:sp>
      <p:sp>
        <p:nvSpPr>
          <p:cNvPr id="4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960033D0-9CE5-4289-A027-DF35E830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81724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 ministry-ready workflow for surfacing circular funding ecosystems, ranking risk, and explaining why a loop deserves analyst review.</a:t>
            </a:r>
          </a:p>
        </p:txBody>
      </p:sp>
      <p:sp>
        <p:nvSpPr>
          <p:cNvPr id="5" name="cover-proof">
            <a:extLst xmlns:a="http://schemas.openxmlformats.org/drawingml/2006/main">
              <a:ext uri="{FF2B5EF4-FFF2-40B4-BE49-F238E27FC236}">
                <a16:creationId xmlns:a16="http://schemas.microsoft.com/office/drawing/2014/main" id="{C5DCA0A2-7E0C-4FD5-BEDB-483D6002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91630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>
                    <a:alpha val="78000"/>
                  </a:srgbClr>
                </a:solidFill>
              </a:defRPr>
            </a:pPr>
            <a:r>
              <a:rPr sz="1575">
                <a:solidFill>
                  <a:srgbClr val="FFFFFF">
                    <a:alpha val="78000"/>
                  </a:srgbClr>
                </a:solidFill>
              </a:rPr>
              <a:t>We identified a cluster of organizations that exchanged funding, shared connections, received public funds, and showed extra risk signals around activity and concentration. Cluster #141 links BOB RUMBALL CANADIAN CENTRE OF EXCELLENCE FOR THE DEAF, The Bob Rumball Camp of the Deaf in a 2-hop loop with $539,500 in circular flow and $89,257,445 in surrounding public-funding exposure. It scores 4/6 because entities are connected through shared directors; at least one organization is highly government-funded (max 80.3%).</a:t>
            </a:r>
          </a:p>
        </p:txBody>
      </p:sp>
      <p:sp>
        <p:nvSpPr>
          <p:cNvPr id="6" name="cover-flagged">
            <a:extLst xmlns:a="http://schemas.openxmlformats.org/drawingml/2006/main">
              <a:ext uri="{FF2B5EF4-FFF2-40B4-BE49-F238E27FC236}">
                <a16:creationId xmlns:a16="http://schemas.microsoft.com/office/drawing/2014/main" id="{636AA126-6977-494D-BC28-19210E37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400300"/>
            <a:ext cx="55054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200" b="1">
                <a:solidFill>
                  <a:srgbClr val="CCFBF1"/>
                </a:solidFill>
              </a:defRPr>
            </a:pPr>
            <a:r>
              <a:rPr sz="10200" b="1">
                <a:solidFill>
                  <a:srgbClr val="CCFBF1"/>
                </a:solidFill>
              </a:rPr>
              <a:t>20</a:t>
            </a:r>
          </a:p>
        </p:txBody>
      </p:sp>
      <p:sp>
        <p:nvSpPr>
          <p:cNvPr id="7" name="cover-flagged-label">
            <a:extLst xmlns:a="http://schemas.openxmlformats.org/drawingml/2006/main">
              <a:ext uri="{FF2B5EF4-FFF2-40B4-BE49-F238E27FC236}">
                <a16:creationId xmlns:a16="http://schemas.microsoft.com/office/drawing/2014/main" id="{FD17A1FD-5557-4DC6-A0A7-34176291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076700"/>
            <a:ext cx="2743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flagged funding-loop clusters</a:t>
            </a:r>
          </a:p>
        </p:txBody>
      </p:sp>
      <p:sp>
        <p:nvSpPr>
          <p:cNvPr id="8" name="cover-metrics">
            <a:extLst xmlns:a="http://schemas.openxmlformats.org/drawingml/2006/main">
              <a:ext uri="{FF2B5EF4-FFF2-40B4-BE49-F238E27FC236}">
                <a16:creationId xmlns:a16="http://schemas.microsoft.com/office/drawing/2014/main" id="{22314199-0C0A-4601-9662-CB13539E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724400"/>
            <a:ext cx="2114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>
                    <a:alpha val="74000"/>
                  </a:srgbClr>
                </a:solidFill>
              </a:defRPr>
            </a:pPr>
            <a:r>
              <a:rPr sz="1350">
                <a:solidFill>
                  <a:srgbClr val="FFFFFF">
                    <a:alpha val="74000"/>
                  </a:srgbClr>
                </a:solidFill>
              </a:rPr>
              <a:t>5 high risk | 37 organizations | $6,959,822,099 exposure</a:t>
            </a:r>
          </a:p>
        </p:txBody>
      </p:sp>
      <p:sp>
        <p:nvSpPr>
          <p:cNvPr id="9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EF7012EE-DA0B-4605-B52D-88AF241E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10700"/>
            <a:ext cx="16611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FFF">
                    <a:alpha val="62000"/>
                  </a:srgbClr>
                </a:solidFill>
              </a:defRPr>
            </a:pPr>
            <a:r>
              <a:rPr sz="1050">
                <a:solidFill>
                  <a:srgbClr val="FFFFFF">
                    <a:alpha val="62000"/>
                  </a:srgbClr>
                </a:solidFill>
              </a:rPr>
              <a:t>Prepared for vendor discussions | April 28, 2026</a:t>
            </a:r>
          </a:p>
        </p:txBody>
      </p:sp>
    </p:spTree>
    <p:extLst>
      <p:ext uri="{BB962C8B-B14F-4D97-AF65-F5344CB8AC3E}">
        <p14:creationId xmlns:p14="http://schemas.microsoft.com/office/powerpoint/2010/main" val="1129993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y ministries need this-title">
            <a:extLst xmlns:a="http://schemas.openxmlformats.org/drawingml/2006/main">
              <a:ext uri="{FF2B5EF4-FFF2-40B4-BE49-F238E27FC236}">
                <a16:creationId xmlns:a16="http://schemas.microsoft.com/office/drawing/2014/main" id="{7143C6C8-923B-40D0-8438-E5A10257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Why ministries need this</a:t>
            </a:r>
          </a:p>
        </p:txBody>
      </p:sp>
      <p:sp>
        <p:nvSpPr>
          <p:cNvPr id="2" name="Why ministries need this-rule">
            <a:extLst xmlns:a="http://schemas.openxmlformats.org/drawingml/2006/main">
              <a:ext uri="{FF2B5EF4-FFF2-40B4-BE49-F238E27FC236}">
                <a16:creationId xmlns:a16="http://schemas.microsoft.com/office/drawing/2014/main" id="{FA85E7A9-C8C6-4310-821A-53915367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Why ministries need this-subtitle">
            <a:extLst xmlns:a="http://schemas.openxmlformats.org/drawingml/2006/main">
              <a:ext uri="{FF2B5EF4-FFF2-40B4-BE49-F238E27FC236}">
                <a16:creationId xmlns:a16="http://schemas.microsoft.com/office/drawing/2014/main" id="{915CF001-5AF2-4428-A00E-C95663EE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2915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Most integrity workflows review one payment, one entity, or one dataset at a time. Funding Loops reframes the problem around connected funding ecosystems.</a:t>
            </a:r>
          </a:p>
        </p:txBody>
      </p:sp>
      <p:sp>
        <p:nvSpPr>
          <p:cNvPr id="4" name="problem-1-title">
            <a:extLst xmlns:a="http://schemas.openxmlformats.org/drawingml/2006/main">
              <a:ext uri="{FF2B5EF4-FFF2-40B4-BE49-F238E27FC236}">
                <a16:creationId xmlns:a16="http://schemas.microsoft.com/office/drawing/2014/main" id="{6878DFA2-080B-494D-8CCA-529128B2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37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Blind spots across datasets</a:t>
            </a:r>
          </a:p>
        </p:txBody>
      </p:sp>
      <p:sp>
        <p:nvSpPr>
          <p:cNvPr id="5" name="problem-1-copy">
            <a:extLst xmlns:a="http://schemas.openxmlformats.org/drawingml/2006/main">
              <a:ext uri="{FF2B5EF4-FFF2-40B4-BE49-F238E27FC236}">
                <a16:creationId xmlns:a16="http://schemas.microsoft.com/office/drawing/2014/main" id="{0261FEBF-7043-413B-8A95-CC93A5F9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4457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The same organization can appear differently across CRA, federal, and provincial systems, making connected money flows hard to see.</a:t>
            </a:r>
          </a:p>
        </p:txBody>
      </p:sp>
      <p:sp>
        <p:nvSpPr>
          <p:cNvPr id="6" name="problem-2-title">
            <a:extLst xmlns:a="http://schemas.openxmlformats.org/drawingml/2006/main">
              <a:ext uri="{FF2B5EF4-FFF2-40B4-BE49-F238E27FC236}">
                <a16:creationId xmlns:a16="http://schemas.microsoft.com/office/drawing/2014/main" id="{709ED717-2DCC-426A-BC9A-26BEDE43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537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Manual review bottlenecks</a:t>
            </a:r>
          </a:p>
        </p:txBody>
      </p:sp>
      <p:sp>
        <p:nvSpPr>
          <p:cNvPr id="7" name="problem-2-copy">
            <a:extLst xmlns:a="http://schemas.openxmlformats.org/drawingml/2006/main">
              <a:ext uri="{FF2B5EF4-FFF2-40B4-BE49-F238E27FC236}">
                <a16:creationId xmlns:a16="http://schemas.microsoft.com/office/drawing/2014/main" id="{90A9BF47-99FF-4048-A4D1-58B5803E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5529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Analysts spend time cleaning names, tracing relationships, and building narratives instead of evaluating the actual risk signal.</a:t>
            </a:r>
          </a:p>
        </p:txBody>
      </p:sp>
      <p:sp>
        <p:nvSpPr>
          <p:cNvPr id="8" name="problem-3-title">
            <a:extLst xmlns:a="http://schemas.openxmlformats.org/drawingml/2006/main">
              <a:ext uri="{FF2B5EF4-FFF2-40B4-BE49-F238E27FC236}">
                <a16:creationId xmlns:a16="http://schemas.microsoft.com/office/drawing/2014/main" id="{A9C4597C-8B7C-4D1C-8BDE-85A3E284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324100"/>
            <a:ext cx="5372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Weak escalation explainability</a:t>
            </a:r>
          </a:p>
        </p:txBody>
      </p:sp>
      <p:sp>
        <p:nvSpPr>
          <p:cNvPr id="9" name="problem-3-copy">
            <a:extLst xmlns:a="http://schemas.openxmlformats.org/drawingml/2006/main">
              <a:ext uri="{FF2B5EF4-FFF2-40B4-BE49-F238E27FC236}">
                <a16:creationId xmlns:a16="http://schemas.microsoft.com/office/drawing/2014/main" id="{7E18C55B-48DD-455B-B0C2-68BF632D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743200"/>
            <a:ext cx="46291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5569"/>
                </a:solidFill>
              </a:defRPr>
            </a:pPr>
            <a:r>
              <a:rPr sz="1500">
                <a:solidFill>
                  <a:srgbClr val="475569"/>
                </a:solidFill>
              </a:rPr>
              <a:t>Buyers need a clear reason for each escalation. A loop alone is not enough; the supporting context must be visible in one view.</a:t>
            </a:r>
          </a:p>
        </p:txBody>
      </p:sp>
      <p:sp>
        <p:nvSpPr>
          <p:cNvPr id="10" name="problem-footer">
            <a:extLst xmlns:a="http://schemas.openxmlformats.org/drawingml/2006/main">
              <a:ext uri="{FF2B5EF4-FFF2-40B4-BE49-F238E27FC236}">
                <a16:creationId xmlns:a16="http://schemas.microsoft.com/office/drawing/2014/main" id="{03D6CCC4-1A2F-4F7D-8046-CADC345F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72600"/>
            <a:ext cx="13849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Positioning message: We are not just finding anomalies. We are showing hidden funding ecosystems where money circulates between connected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1469016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eal-data proof-title">
            <a:extLst xmlns:a="http://schemas.openxmlformats.org/drawingml/2006/main">
              <a:ext uri="{FF2B5EF4-FFF2-40B4-BE49-F238E27FC236}">
                <a16:creationId xmlns:a16="http://schemas.microsoft.com/office/drawing/2014/main" id="{D2BBC4F5-C7A3-4D11-A374-B0B29A11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Real-data proof</a:t>
            </a:r>
          </a:p>
        </p:txBody>
      </p:sp>
      <p:sp>
        <p:nvSpPr>
          <p:cNvPr id="2" name="Real-data proof-rule">
            <a:extLst xmlns:a="http://schemas.openxmlformats.org/drawingml/2006/main">
              <a:ext uri="{FF2B5EF4-FFF2-40B4-BE49-F238E27FC236}">
                <a16:creationId xmlns:a16="http://schemas.microsoft.com/office/drawing/2014/main" id="{941F059C-5A52-4F5D-AF33-32E825AE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Real-data proof-subtitle">
            <a:extLst xmlns:a="http://schemas.openxmlformats.org/drawingml/2006/main">
              <a:ext uri="{FF2B5EF4-FFF2-40B4-BE49-F238E27FC236}">
                <a16:creationId xmlns:a16="http://schemas.microsoft.com/office/drawing/2014/main" id="{EFEAAABF-24DD-49A3-B397-F1DB143A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877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The current Funding Loops run was executed against the provided hackathon PostgreSQL dataset, not a mock sample.</a:t>
            </a:r>
          </a:p>
        </p:txBody>
      </p:sp>
      <p:sp>
        <p:nvSpPr>
          <p:cNvPr id="4" name="Flagged loops-value">
            <a:extLst xmlns:a="http://schemas.openxmlformats.org/drawingml/2006/main">
              <a:ext uri="{FF2B5EF4-FFF2-40B4-BE49-F238E27FC236}">
                <a16:creationId xmlns:a16="http://schemas.microsoft.com/office/drawing/2014/main" id="{302D48EC-3F48-4520-810C-9731AE72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00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766E"/>
                </a:solidFill>
              </a:defRPr>
            </a:pPr>
            <a:r>
              <a:rPr sz="3150" b="1">
                <a:solidFill>
                  <a:srgbClr val="0F766E"/>
                </a:solidFill>
              </a:rPr>
              <a:t>20</a:t>
            </a:r>
          </a:p>
        </p:txBody>
      </p:sp>
      <p:sp>
        <p:nvSpPr>
          <p:cNvPr id="5" name="Flagged loops-label">
            <a:extLst xmlns:a="http://schemas.openxmlformats.org/drawingml/2006/main">
              <a:ext uri="{FF2B5EF4-FFF2-40B4-BE49-F238E27FC236}">
                <a16:creationId xmlns:a16="http://schemas.microsoft.com/office/drawing/2014/main" id="{24FDFB8B-9962-4B81-A2CF-D43EF80F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Flagged loops</a:t>
            </a:r>
          </a:p>
        </p:txBody>
      </p:sp>
      <p:sp>
        <p:nvSpPr>
          <p:cNvPr id="6" name="High-risk loops-value">
            <a:extLst xmlns:a="http://schemas.openxmlformats.org/drawingml/2006/main">
              <a:ext uri="{FF2B5EF4-FFF2-40B4-BE49-F238E27FC236}">
                <a16:creationId xmlns:a16="http://schemas.microsoft.com/office/drawing/2014/main" id="{61DC2B6C-A07F-481A-A653-60660448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95500"/>
            <a:ext cx="400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91C1C"/>
                </a:solidFill>
              </a:defRPr>
            </a:pPr>
            <a:r>
              <a:rPr sz="3150" b="1">
                <a:solidFill>
                  <a:srgbClr val="B91C1C"/>
                </a:solidFill>
              </a:rPr>
              <a:t>5</a:t>
            </a:r>
          </a:p>
        </p:txBody>
      </p:sp>
      <p:sp>
        <p:nvSpPr>
          <p:cNvPr id="7" name="High-risk loops-label">
            <a:extLst xmlns:a="http://schemas.openxmlformats.org/drawingml/2006/main">
              <a:ext uri="{FF2B5EF4-FFF2-40B4-BE49-F238E27FC236}">
                <a16:creationId xmlns:a16="http://schemas.microsoft.com/office/drawing/2014/main" id="{E943B176-EA41-4229-B9E2-70ACA651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28900"/>
            <a:ext cx="1028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High-risk loops</a:t>
            </a:r>
          </a:p>
        </p:txBody>
      </p:sp>
      <p:sp>
        <p:nvSpPr>
          <p:cNvPr id="8" name="Organizations involved-value">
            <a:extLst xmlns:a="http://schemas.openxmlformats.org/drawingml/2006/main">
              <a:ext uri="{FF2B5EF4-FFF2-40B4-BE49-F238E27FC236}">
                <a16:creationId xmlns:a16="http://schemas.microsoft.com/office/drawing/2014/main" id="{8C9CB497-F2FD-402E-997C-A147B3DA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400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D4ED8"/>
                </a:solidFill>
              </a:defRPr>
            </a:pPr>
            <a:r>
              <a:rPr sz="3150" b="1">
                <a:solidFill>
                  <a:srgbClr val="1D4ED8"/>
                </a:solidFill>
              </a:rPr>
              <a:t>37</a:t>
            </a:r>
          </a:p>
        </p:txBody>
      </p:sp>
      <p:sp>
        <p:nvSpPr>
          <p:cNvPr id="9" name="Organizations involved-label">
            <a:extLst xmlns:a="http://schemas.openxmlformats.org/drawingml/2006/main">
              <a:ext uri="{FF2B5EF4-FFF2-40B4-BE49-F238E27FC236}">
                <a16:creationId xmlns:a16="http://schemas.microsoft.com/office/drawing/2014/main" id="{A5076D6F-06B6-4D7A-9ADA-4B395A38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28900"/>
            <a:ext cx="1562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Organizations involved</a:t>
            </a:r>
          </a:p>
        </p:txBody>
      </p:sp>
      <p:sp>
        <p:nvSpPr>
          <p:cNvPr id="10" name="Public-funding exposure-value">
            <a:extLst xmlns:a="http://schemas.openxmlformats.org/drawingml/2006/main">
              <a:ext uri="{FF2B5EF4-FFF2-40B4-BE49-F238E27FC236}">
                <a16:creationId xmlns:a16="http://schemas.microsoft.com/office/drawing/2014/main" id="{44508C5E-18F6-4A78-8B08-48660EDB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095500"/>
            <a:ext cx="4000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$6,959,822,099</a:t>
            </a:r>
          </a:p>
        </p:txBody>
      </p:sp>
      <p:sp>
        <p:nvSpPr>
          <p:cNvPr id="11" name="Public-funding exposure-label">
            <a:extLst xmlns:a="http://schemas.openxmlformats.org/drawingml/2006/main">
              <a:ext uri="{FF2B5EF4-FFF2-40B4-BE49-F238E27FC236}">
                <a16:creationId xmlns:a16="http://schemas.microsoft.com/office/drawing/2014/main" id="{B6363F4E-BA78-4D10-8791-BD43BE5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628900"/>
            <a:ext cx="1676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Public-funding exposure</a:t>
            </a:r>
          </a:p>
        </p:txBody>
      </p:sp>
      <p:sp>
        <p:nvSpPr>
          <p:cNvPr id="12" name="evidence-insight">
            <a:extLst xmlns:a="http://schemas.openxmlformats.org/drawingml/2006/main">
              <a:ext uri="{FF2B5EF4-FFF2-40B4-BE49-F238E27FC236}">
                <a16:creationId xmlns:a16="http://schemas.microsoft.com/office/drawing/2014/main" id="{EA561DED-653F-47B7-B749-6521DDD5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1510665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We identified a cluster of organizations that exchanged funding, shared connections, received public funds, and showed extra risk signals around activity and concentration. Cluster #141 links BOB RUMBALL CANADIAN CENTRE OF EXCELLENCE FOR THE DEAF, The Bob Rumball Camp of the Deaf in a 2-hop loop with $539,500 in circular flow and $89,257,445 in surrounding public-funding exposure. It scores 4/6 because entities are connected through shared directors; at least one organization is highly government-funded (max 80.3%).</a:t>
            </a:r>
          </a:p>
        </p:txBody>
      </p:sp>
      <p:sp>
        <p:nvSpPr>
          <p:cNvPr id="13" name="2-hop loops-value">
            <a:extLst xmlns:a="http://schemas.openxmlformats.org/drawingml/2006/main">
              <a:ext uri="{FF2B5EF4-FFF2-40B4-BE49-F238E27FC236}">
                <a16:creationId xmlns:a16="http://schemas.microsoft.com/office/drawing/2014/main" id="{5D634F63-8859-43C6-B255-A52BB77D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3943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14</a:t>
            </a:r>
          </a:p>
        </p:txBody>
      </p:sp>
      <p:sp>
        <p:nvSpPr>
          <p:cNvPr id="14" name="2-hop loops-label">
            <a:extLst xmlns:a="http://schemas.openxmlformats.org/drawingml/2006/main">
              <a:ext uri="{FF2B5EF4-FFF2-40B4-BE49-F238E27FC236}">
                <a16:creationId xmlns:a16="http://schemas.microsoft.com/office/drawing/2014/main" id="{08DE4AF5-8CBF-42F5-A371-0C3E1AB7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81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2-hop loops</a:t>
            </a:r>
          </a:p>
        </p:txBody>
      </p:sp>
      <p:sp>
        <p:nvSpPr>
          <p:cNvPr id="15" name="3-hop loops-value">
            <a:extLst xmlns:a="http://schemas.openxmlformats.org/drawingml/2006/main">
              <a:ext uri="{FF2B5EF4-FFF2-40B4-BE49-F238E27FC236}">
                <a16:creationId xmlns:a16="http://schemas.microsoft.com/office/drawing/2014/main" id="{50033A06-891E-4A6D-AC78-5B16CAEE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48200"/>
            <a:ext cx="3943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16" name="3-hop loops-label">
            <a:extLst xmlns:a="http://schemas.openxmlformats.org/drawingml/2006/main">
              <a:ext uri="{FF2B5EF4-FFF2-40B4-BE49-F238E27FC236}">
                <a16:creationId xmlns:a16="http://schemas.microsoft.com/office/drawing/2014/main" id="{C3A8D8B5-EE71-458D-AAE1-4B85C397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81600"/>
            <a:ext cx="81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3-hop loops</a:t>
            </a:r>
          </a:p>
        </p:txBody>
      </p:sp>
      <p:sp>
        <p:nvSpPr>
          <p:cNvPr id="17" name="Same-year loops-value">
            <a:extLst xmlns:a="http://schemas.openxmlformats.org/drawingml/2006/main">
              <a:ext uri="{FF2B5EF4-FFF2-40B4-BE49-F238E27FC236}">
                <a16:creationId xmlns:a16="http://schemas.microsoft.com/office/drawing/2014/main" id="{DD09E417-0C51-4EDC-AC6A-C592FB0F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648200"/>
            <a:ext cx="3943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9</a:t>
            </a:r>
          </a:p>
        </p:txBody>
      </p:sp>
      <p:sp>
        <p:nvSpPr>
          <p:cNvPr id="18" name="Same-year loops-label">
            <a:extLst xmlns:a="http://schemas.openxmlformats.org/drawingml/2006/main">
              <a:ext uri="{FF2B5EF4-FFF2-40B4-BE49-F238E27FC236}">
                <a16:creationId xmlns:a16="http://schemas.microsoft.com/office/drawing/2014/main" id="{210AEBE1-954B-4E64-BAC8-88A46940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81600"/>
            <a:ext cx="114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Same-year loops</a:t>
            </a:r>
          </a:p>
        </p:txBody>
      </p:sp>
      <p:sp>
        <p:nvSpPr>
          <p:cNvPr id="19" name="Loops with shared-director links-value">
            <a:extLst xmlns:a="http://schemas.openxmlformats.org/drawingml/2006/main">
              <a:ext uri="{FF2B5EF4-FFF2-40B4-BE49-F238E27FC236}">
                <a16:creationId xmlns:a16="http://schemas.microsoft.com/office/drawing/2014/main" id="{C2091D8E-3DA4-4A09-A0C9-9BA7D20E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648200"/>
            <a:ext cx="39433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A"/>
                </a:solidFill>
              </a:defRPr>
            </a:pPr>
            <a:r>
              <a:rPr sz="3150" b="1">
                <a:solidFill>
                  <a:srgbClr val="0F172A"/>
                </a:solidFill>
              </a:rPr>
              <a:t>7</a:t>
            </a:r>
          </a:p>
        </p:txBody>
      </p:sp>
      <p:sp>
        <p:nvSpPr>
          <p:cNvPr id="20" name="Loops with shared-director links-label">
            <a:extLst xmlns:a="http://schemas.openxmlformats.org/drawingml/2006/main">
              <a:ext uri="{FF2B5EF4-FFF2-40B4-BE49-F238E27FC236}">
                <a16:creationId xmlns:a16="http://schemas.microsoft.com/office/drawing/2014/main" id="{16BB470C-D9ED-44E8-91E4-536D3BE8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5181600"/>
            <a:ext cx="2228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Loops with shared-director links</a:t>
            </a:r>
          </a:p>
        </p:txBody>
      </p:sp>
    </p:spTree>
    <p:extLst>
      <p:ext uri="{BB962C8B-B14F-4D97-AF65-F5344CB8AC3E}">
        <p14:creationId xmlns:p14="http://schemas.microsoft.com/office/powerpoint/2010/main" val="1874549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ere the biggest clusters sit-title">
            <a:extLst xmlns:a="http://schemas.openxmlformats.org/drawingml/2006/main">
              <a:ext uri="{FF2B5EF4-FFF2-40B4-BE49-F238E27FC236}">
                <a16:creationId xmlns:a16="http://schemas.microsoft.com/office/drawing/2014/main" id="{21CAFE89-EC84-4F65-A061-6DCF0E32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Where the biggest clusters sit</a:t>
            </a:r>
          </a:p>
        </p:txBody>
      </p:sp>
      <p:sp>
        <p:nvSpPr>
          <p:cNvPr id="2" name="Where the biggest clusters sit-rule">
            <a:extLst xmlns:a="http://schemas.openxmlformats.org/drawingml/2006/main">
              <a:ext uri="{FF2B5EF4-FFF2-40B4-BE49-F238E27FC236}">
                <a16:creationId xmlns:a16="http://schemas.microsoft.com/office/drawing/2014/main" id="{8ED2298A-A7D4-492F-8CA0-FB366396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Where the biggest clusters sit-subtitle">
            <a:extLst xmlns:a="http://schemas.openxmlformats.org/drawingml/2006/main">
              <a:ext uri="{FF2B5EF4-FFF2-40B4-BE49-F238E27FC236}">
                <a16:creationId xmlns:a16="http://schemas.microsoft.com/office/drawing/2014/main" id="{C6083E44-763E-48F0-A3A0-B5C1100F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1277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A few loops dominate surrounding public-funding exposure. The product value is not just detection, but fast prioritization.</a:t>
            </a:r>
          </a:p>
        </p:txBody>
      </p:sp>
      <p:sp>
        <p:nvSpPr>
          <p:cNvPr id="4" name="Cluster #141 ties a direct 2-hop loop to shared directors and 80.3% government-funding dependency.-dot">
            <a:extLst xmlns:a="http://schemas.openxmlformats.org/drawingml/2006/main">
              <a:ext uri="{FF2B5EF4-FFF2-40B4-BE49-F238E27FC236}">
                <a16:creationId xmlns:a16="http://schemas.microsoft.com/office/drawing/2014/main" id="{7EE57CB5-4846-4278-88FF-7841AB70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•</a:t>
            </a:r>
          </a:p>
        </p:txBody>
      </p:sp>
      <p:sp>
        <p:nvSpPr>
          <p:cNvPr id="5" name="Cluster #141 ties a direct 2-hop loop to shared directors and 80.3% government-funding dependency.-copy">
            <a:extLst xmlns:a="http://schemas.openxmlformats.org/drawingml/2006/main">
              <a:ext uri="{FF2B5EF4-FFF2-40B4-BE49-F238E27FC236}">
                <a16:creationId xmlns:a16="http://schemas.microsoft.com/office/drawing/2014/main" id="{0DF79A72-9D39-41AF-B79F-7EEE5376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6572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Cluster #141 ties a direct 2-hop loop to shared directors and 80.3% government-funding dependency.</a:t>
            </a:r>
          </a:p>
        </p:txBody>
      </p:sp>
      <p:sp>
        <p:nvSpPr>
          <p:cNvPr id="6" name="The top five clusters all score 4/6 and are driven by connected entities plus additional public-funding signals.-dot">
            <a:extLst xmlns:a="http://schemas.openxmlformats.org/drawingml/2006/main">
              <a:ext uri="{FF2B5EF4-FFF2-40B4-BE49-F238E27FC236}">
                <a16:creationId xmlns:a16="http://schemas.microsoft.com/office/drawing/2014/main" id="{A55A084C-4210-4314-9CD8-82108352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7" name="The top five clusters all score 4/6 and are driven by connected entities plus additional public-funding signals.-copy">
            <a:extLst xmlns:a="http://schemas.openxmlformats.org/drawingml/2006/main">
              <a:ext uri="{FF2B5EF4-FFF2-40B4-BE49-F238E27FC236}">
                <a16:creationId xmlns:a16="http://schemas.microsoft.com/office/drawing/2014/main" id="{B185A43F-6C89-4FFD-A01F-4F1FC217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6572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The top five clusters all score 4/6 and are driven by connected entities plus additional public-funding signals.</a:t>
            </a:r>
          </a:p>
        </p:txBody>
      </p:sp>
      <p:sp>
        <p:nvSpPr>
          <p:cNvPr id="8" name="This creates a credible analyst queue for ministries, inspectors, and grants-assurance teams.-dot">
            <a:extLst xmlns:a="http://schemas.openxmlformats.org/drawingml/2006/main">
              <a:ext uri="{FF2B5EF4-FFF2-40B4-BE49-F238E27FC236}">
                <a16:creationId xmlns:a16="http://schemas.microsoft.com/office/drawing/2014/main" id="{6A48209F-A202-4AA3-B4FA-F5659856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4ED8"/>
                </a:solidFill>
              </a:defRPr>
            </a:pPr>
            <a:r>
              <a:rPr sz="2100" b="1">
                <a:solidFill>
                  <a:srgbClr val="1D4ED8"/>
                </a:solidFill>
              </a:rPr>
              <a:t>•</a:t>
            </a:r>
          </a:p>
        </p:txBody>
      </p:sp>
      <p:sp>
        <p:nvSpPr>
          <p:cNvPr id="9" name="This creates a credible analyst queue for ministries, inspectors, and grants-assurance teams.-copy">
            <a:extLst xmlns:a="http://schemas.openxmlformats.org/drawingml/2006/main">
              <a:ext uri="{FF2B5EF4-FFF2-40B4-BE49-F238E27FC236}">
                <a16:creationId xmlns:a16="http://schemas.microsoft.com/office/drawing/2014/main" id="{7BCA635E-A0C4-467F-9C06-D24A1E41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6572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This creates a credible analyst queue for ministries, inspectors, and grants-assurance teams.</a:t>
            </a:r>
          </a:p>
        </p:txBody>
      </p:sp>
      <p:graphicFrame>
        <p:nvGraphicFramePr>
          <p:cNvPr id="10" name="top-clusters-chart"/>
          <p:cNvGraphicFramePr/>
          <p:nvPr/>
        </p:nvGraphicFramePr>
        <p:xfrm>
          <a:off xmlns:a="http://schemas.openxmlformats.org/drawingml/2006/main" x="8018907" y="2343150"/>
          <a:ext xmlns:a="http://schemas.openxmlformats.org/drawingml/2006/main" cx="9468993" cy="7277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a4700049204c4c"/>
          </a:graphicData>
        </a:graphic>
      </p:graphicFrame>
    </p:spTree>
    <p:extLst>
      <p:ext uri="{BB962C8B-B14F-4D97-AF65-F5344CB8AC3E}">
        <p14:creationId xmlns:p14="http://schemas.microsoft.com/office/powerpoint/2010/main" val="12475473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at makes a loop risky-title">
            <a:extLst xmlns:a="http://schemas.openxmlformats.org/drawingml/2006/main">
              <a:ext uri="{FF2B5EF4-FFF2-40B4-BE49-F238E27FC236}">
                <a16:creationId xmlns:a16="http://schemas.microsoft.com/office/drawing/2014/main" id="{DE53B36E-FA21-4510-840C-EF982EF6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What makes a loop risky</a:t>
            </a:r>
          </a:p>
        </p:txBody>
      </p:sp>
      <p:sp>
        <p:nvSpPr>
          <p:cNvPr id="2" name="What makes a loop risky-rule">
            <a:extLst xmlns:a="http://schemas.openxmlformats.org/drawingml/2006/main">
              <a:ext uri="{FF2B5EF4-FFF2-40B4-BE49-F238E27FC236}">
                <a16:creationId xmlns:a16="http://schemas.microsoft.com/office/drawing/2014/main" id="{988A6A9D-E9ED-493A-8D7B-A8F074CF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What makes a loop risky-subtitle">
            <a:extLst xmlns:a="http://schemas.openxmlformats.org/drawingml/2006/main">
              <a:ext uri="{FF2B5EF4-FFF2-40B4-BE49-F238E27FC236}">
                <a16:creationId xmlns:a16="http://schemas.microsoft.com/office/drawing/2014/main" id="{686CBB5E-194F-462F-88C4-FD10D2F2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2496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The model stays deliberately simple: detect the loop first, then stack 3 to 4 supporting signals that analysts can understand and defend.</a:t>
            </a:r>
          </a:p>
        </p:txBody>
      </p:sp>
      <p:sp>
        <p:nvSpPr>
          <p:cNvPr id="4" name="+1 loop detected-dot">
            <a:extLst xmlns:a="http://schemas.openxmlformats.org/drawingml/2006/main">
              <a:ext uri="{FF2B5EF4-FFF2-40B4-BE49-F238E27FC236}">
                <a16:creationId xmlns:a16="http://schemas.microsoft.com/office/drawing/2014/main" id="{104B729F-ADB4-41C8-AA35-378F0FE6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5" name="+1 loop detected-copy">
            <a:extLst xmlns:a="http://schemas.openxmlformats.org/drawingml/2006/main">
              <a:ext uri="{FF2B5EF4-FFF2-40B4-BE49-F238E27FC236}">
                <a16:creationId xmlns:a16="http://schemas.microsoft.com/office/drawing/2014/main" id="{3EDD7417-3779-45DB-80BA-D525DE72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821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+1 loop detected</a:t>
            </a:r>
          </a:p>
        </p:txBody>
      </p:sp>
      <p:sp>
        <p:nvSpPr>
          <p:cNvPr id="6" name="+1 connected entities via shared directors or related structure-dot">
            <a:extLst xmlns:a="http://schemas.openxmlformats.org/drawingml/2006/main">
              <a:ext uri="{FF2B5EF4-FFF2-40B4-BE49-F238E27FC236}">
                <a16:creationId xmlns:a16="http://schemas.microsoft.com/office/drawing/2014/main" id="{59405871-68DC-4BF1-8E34-DE1AFE39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7" name="+1 connected entities via shared directors or related structure-copy">
            <a:extLst xmlns:a="http://schemas.openxmlformats.org/drawingml/2006/main">
              <a:ext uri="{FF2B5EF4-FFF2-40B4-BE49-F238E27FC236}">
                <a16:creationId xmlns:a16="http://schemas.microsoft.com/office/drawing/2014/main" id="{6D41DF2B-837D-4706-8B69-A549FD26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821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+1 connected entities via shared directors or related structure</a:t>
            </a:r>
          </a:p>
        </p:txBody>
      </p:sp>
      <p:sp>
        <p:nvSpPr>
          <p:cNvPr id="8" name="+1 inactive after funding-dot">
            <a:extLst xmlns:a="http://schemas.openxmlformats.org/drawingml/2006/main">
              <a:ext uri="{FF2B5EF4-FFF2-40B4-BE49-F238E27FC236}">
                <a16:creationId xmlns:a16="http://schemas.microsoft.com/office/drawing/2014/main" id="{6C0F8B61-6356-4912-BD60-D25BA8E0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9" name="+1 inactive after funding-copy">
            <a:extLst xmlns:a="http://schemas.openxmlformats.org/drawingml/2006/main">
              <a:ext uri="{FF2B5EF4-FFF2-40B4-BE49-F238E27FC236}">
                <a16:creationId xmlns:a16="http://schemas.microsoft.com/office/drawing/2014/main" id="{E7CB2915-F8BC-40C8-A6C8-DA51D02F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821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+1 inactive after funding</a:t>
            </a:r>
          </a:p>
        </p:txBody>
      </p:sp>
      <p:sp>
        <p:nvSpPr>
          <p:cNvPr id="10" name="+1 highly government-funded-dot">
            <a:extLst xmlns:a="http://schemas.openxmlformats.org/drawingml/2006/main">
              <a:ext uri="{FF2B5EF4-FFF2-40B4-BE49-F238E27FC236}">
                <a16:creationId xmlns:a16="http://schemas.microsoft.com/office/drawing/2014/main" id="{F02DCC35-4D69-421C-B6CB-57486DB5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1" name="+1 highly government-funded-copy">
            <a:extLst xmlns:a="http://schemas.openxmlformats.org/drawingml/2006/main">
              <a:ext uri="{FF2B5EF4-FFF2-40B4-BE49-F238E27FC236}">
                <a16:creationId xmlns:a16="http://schemas.microsoft.com/office/drawing/2014/main" id="{F2B9B2AF-DD0F-4335-BC3F-4B3BCEB7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76650"/>
            <a:ext cx="821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+1 highly government-funded</a:t>
            </a:r>
          </a:p>
        </p:txBody>
      </p:sp>
      <p:sp>
        <p:nvSpPr>
          <p:cNvPr id="12" name="+1 repeated or duplicate funding patterns-dot">
            <a:extLst xmlns:a="http://schemas.openxmlformats.org/drawingml/2006/main">
              <a:ext uri="{FF2B5EF4-FFF2-40B4-BE49-F238E27FC236}">
                <a16:creationId xmlns:a16="http://schemas.microsoft.com/office/drawing/2014/main" id="{3A3AF537-94B3-48F6-9BB7-EB98F45C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3" name="+1 repeated or duplicate funding patterns-copy">
            <a:extLst xmlns:a="http://schemas.openxmlformats.org/drawingml/2006/main">
              <a:ext uri="{FF2B5EF4-FFF2-40B4-BE49-F238E27FC236}">
                <a16:creationId xmlns:a16="http://schemas.microsoft.com/office/drawing/2014/main" id="{D1FE44D4-5752-4753-8E6B-FC0348DB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821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+1 repeated or duplicate funding patterns</a:t>
            </a:r>
          </a:p>
        </p:txBody>
      </p:sp>
      <p:sp>
        <p:nvSpPr>
          <p:cNvPr id="14" name="+1 contract concentration or sole-source signal-dot">
            <a:extLst xmlns:a="http://schemas.openxmlformats.org/drawingml/2006/main">
              <a:ext uri="{FF2B5EF4-FFF2-40B4-BE49-F238E27FC236}">
                <a16:creationId xmlns:a16="http://schemas.microsoft.com/office/drawing/2014/main" id="{63B3C86F-D084-492C-A19D-73A10826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5" name="+1 contract concentration or sole-source signal-copy">
            <a:extLst xmlns:a="http://schemas.openxmlformats.org/drawingml/2006/main">
              <a:ext uri="{FF2B5EF4-FFF2-40B4-BE49-F238E27FC236}">
                <a16:creationId xmlns:a16="http://schemas.microsoft.com/office/drawing/2014/main" id="{5A011F69-9426-4977-9FD7-ED6FED54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8210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+1 contract concentration or sole-source signal</a:t>
            </a:r>
          </a:p>
        </p:txBody>
      </p:sp>
      <p:sp>
        <p:nvSpPr>
          <p:cNvPr id="16" name="score-thresholds">
            <a:extLst xmlns:a="http://schemas.openxmlformats.org/drawingml/2006/main">
              <a:ext uri="{FF2B5EF4-FFF2-40B4-BE49-F238E27FC236}">
                <a16:creationId xmlns:a16="http://schemas.microsoft.com/office/drawing/2014/main" id="{68B20953-CC4B-4E78-BC10-7156A57C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3752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Thresholds: 3+ = flagged | 4+ = high risk</a:t>
            </a:r>
          </a:p>
        </p:txBody>
      </p:sp>
      <p:sp>
        <p:nvSpPr>
          <p:cNvPr id="17" name="score-example-title">
            <a:extLst xmlns:a="http://schemas.openxmlformats.org/drawingml/2006/main">
              <a:ext uri="{FF2B5EF4-FFF2-40B4-BE49-F238E27FC236}">
                <a16:creationId xmlns:a16="http://schemas.microsoft.com/office/drawing/2014/main" id="{E5067784-2E69-4729-8196-E88FFB8C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24100"/>
            <a:ext cx="7848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Example: Cluster #141</a:t>
            </a:r>
          </a:p>
        </p:txBody>
      </p:sp>
      <p:sp>
        <p:nvSpPr>
          <p:cNvPr id="18" name="score-example-orgs">
            <a:extLst xmlns:a="http://schemas.openxmlformats.org/drawingml/2006/main">
              <a:ext uri="{FF2B5EF4-FFF2-40B4-BE49-F238E27FC236}">
                <a16:creationId xmlns:a16="http://schemas.microsoft.com/office/drawing/2014/main" id="{B13F43C3-6FC1-4FFF-BA5E-3C3608BA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00350"/>
            <a:ext cx="6553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75569"/>
                </a:solidFill>
              </a:defRPr>
            </a:pPr>
            <a:r>
              <a:rPr sz="1650">
                <a:solidFill>
                  <a:srgbClr val="475569"/>
                </a:solidFill>
              </a:rPr>
              <a:t>BOB RUMBALL CANADIAN CENTRE OF EXCELLENCE FOR THE DEAF -&gt; The Bob Rumball Camp of the Deaf</a:t>
            </a:r>
          </a:p>
        </p:txBody>
      </p:sp>
      <p:sp>
        <p:nvSpPr>
          <p:cNvPr id="19" name="$539,500 in circular flow and $89,257,445 in surrounding public-funding exposure-dot">
            <a:extLst xmlns:a="http://schemas.openxmlformats.org/drawingml/2006/main">
              <a:ext uri="{FF2B5EF4-FFF2-40B4-BE49-F238E27FC236}">
                <a16:creationId xmlns:a16="http://schemas.microsoft.com/office/drawing/2014/main" id="{F56BFF92-5393-401C-AA7B-357D059F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•</a:t>
            </a:r>
          </a:p>
        </p:txBody>
      </p:sp>
      <p:sp>
        <p:nvSpPr>
          <p:cNvPr id="20" name="$539,500 in circular flow and $89,257,445 in surrounding public-funding exposure-copy">
            <a:extLst xmlns:a="http://schemas.openxmlformats.org/drawingml/2006/main">
              <a:ext uri="{FF2B5EF4-FFF2-40B4-BE49-F238E27FC236}">
                <a16:creationId xmlns:a16="http://schemas.microsoft.com/office/drawing/2014/main" id="{85D63312-AC2F-4EBB-B1D2-B1116BB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29000"/>
            <a:ext cx="756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$539,500 in circular flow and $89,257,445 in surrounding public-funding exposure</a:t>
            </a:r>
          </a:p>
        </p:txBody>
      </p:sp>
      <p:sp>
        <p:nvSpPr>
          <p:cNvPr id="21" name="3 shared directors and max government dependency of 80.3%-dot">
            <a:extLst xmlns:a="http://schemas.openxmlformats.org/drawingml/2006/main">
              <a:ext uri="{FF2B5EF4-FFF2-40B4-BE49-F238E27FC236}">
                <a16:creationId xmlns:a16="http://schemas.microsoft.com/office/drawing/2014/main" id="{5EA37D34-9862-4655-9DBC-2B6B451A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8620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•</a:t>
            </a:r>
          </a:p>
        </p:txBody>
      </p:sp>
      <p:sp>
        <p:nvSpPr>
          <p:cNvPr id="22" name="3 shared directors and max government dependency of 80.3%-copy">
            <a:extLst xmlns:a="http://schemas.openxmlformats.org/drawingml/2006/main">
              <a:ext uri="{FF2B5EF4-FFF2-40B4-BE49-F238E27FC236}">
                <a16:creationId xmlns:a16="http://schemas.microsoft.com/office/drawing/2014/main" id="{CF879B1C-C5E9-40B3-943B-A8386618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7562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3 shared directors and max government dependency of 80.3%</a:t>
            </a:r>
          </a:p>
        </p:txBody>
      </p:sp>
      <p:sp>
        <p:nvSpPr>
          <p:cNvPr id="23" name="Flagged because entities are connected through shared directors; at least one organization is highly government-funded (max 80.3%)-dot">
            <a:extLst xmlns:a="http://schemas.openxmlformats.org/drawingml/2006/main">
              <a:ext uri="{FF2B5EF4-FFF2-40B4-BE49-F238E27FC236}">
                <a16:creationId xmlns:a16="http://schemas.microsoft.com/office/drawing/2014/main" id="{19431C76-B503-4BC0-ACAC-AD73873A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4340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•</a:t>
            </a:r>
          </a:p>
        </p:txBody>
      </p:sp>
      <p:sp>
        <p:nvSpPr>
          <p:cNvPr id="24" name="Flagged because entities are connected through shared directors; at least one organization is highly government-funded (max 80.3%)-copy">
            <a:extLst xmlns:a="http://schemas.openxmlformats.org/drawingml/2006/main">
              <a:ext uri="{FF2B5EF4-FFF2-40B4-BE49-F238E27FC236}">
                <a16:creationId xmlns:a16="http://schemas.microsoft.com/office/drawing/2014/main" id="{AA3E45A6-2D26-42EE-9F25-B0981465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43400"/>
            <a:ext cx="7562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Flagged because entities are connected through shared directors; at least one organization is highly government-funded (max 80.3%)</a:t>
            </a:r>
          </a:p>
        </p:txBody>
      </p:sp>
    </p:spTree>
    <p:extLst>
      <p:ext uri="{BB962C8B-B14F-4D97-AF65-F5344CB8AC3E}">
        <p14:creationId xmlns:p14="http://schemas.microsoft.com/office/powerpoint/2010/main" val="959951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nalyst workflow-title">
            <a:extLst xmlns:a="http://schemas.openxmlformats.org/drawingml/2006/main">
              <a:ext uri="{FF2B5EF4-FFF2-40B4-BE49-F238E27FC236}">
                <a16:creationId xmlns:a16="http://schemas.microsoft.com/office/drawing/2014/main" id="{BA29BB15-0116-42BC-BD96-CC42E974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Analyst workflow</a:t>
            </a:r>
          </a:p>
        </p:txBody>
      </p:sp>
      <p:sp>
        <p:nvSpPr>
          <p:cNvPr id="2" name="Analyst workflow-rule">
            <a:extLst xmlns:a="http://schemas.openxmlformats.org/drawingml/2006/main">
              <a:ext uri="{FF2B5EF4-FFF2-40B4-BE49-F238E27FC236}">
                <a16:creationId xmlns:a16="http://schemas.microsoft.com/office/drawing/2014/main" id="{B73EAA0F-3D1D-4180-8AB9-42F977CD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Analyst workflow-subtitle">
            <a:extLst xmlns:a="http://schemas.openxmlformats.org/drawingml/2006/main">
              <a:ext uri="{FF2B5EF4-FFF2-40B4-BE49-F238E27FC236}">
                <a16:creationId xmlns:a16="http://schemas.microsoft.com/office/drawing/2014/main" id="{F2256DE8-52EC-49FB-A277-B84AF9F3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2553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The product experience should feel operational, not academic: ingest data, resolve entities, detect loops, score clusters, and explain the escalation path.</a:t>
            </a:r>
          </a:p>
        </p:txBody>
      </p:sp>
      <p:sp>
        <p:nvSpPr>
          <p:cNvPr id="4" name="Ingest-number">
            <a:extLst xmlns:a="http://schemas.openxmlformats.org/drawingml/2006/main">
              <a:ext uri="{FF2B5EF4-FFF2-40B4-BE49-F238E27FC236}">
                <a16:creationId xmlns:a16="http://schemas.microsoft.com/office/drawing/2014/main" id="{5BC083D2-316E-429D-B056-58C7FC7D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5" name="Ingest-label">
            <a:extLst xmlns:a="http://schemas.openxmlformats.org/drawingml/2006/main">
              <a:ext uri="{FF2B5EF4-FFF2-40B4-BE49-F238E27FC236}">
                <a16:creationId xmlns:a16="http://schemas.microsoft.com/office/drawing/2014/main" id="{3EBE3902-3062-4EB5-854F-280D6203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Ingest</a:t>
            </a:r>
          </a:p>
        </p:txBody>
      </p:sp>
      <p:sp>
        <p:nvSpPr>
          <p:cNvPr id="6" name="Ingest-detail">
            <a:extLst xmlns:a="http://schemas.openxmlformats.org/drawingml/2006/main">
              <a:ext uri="{FF2B5EF4-FFF2-40B4-BE49-F238E27FC236}">
                <a16:creationId xmlns:a16="http://schemas.microsoft.com/office/drawing/2014/main" id="{7661E247-7797-4391-A32E-32641C51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28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Upload CSV, Excel, JSONL, or direct file links.</a:t>
            </a:r>
          </a:p>
        </p:txBody>
      </p:sp>
      <p:sp>
        <p:nvSpPr>
          <p:cNvPr id="7" name="Resolve-number">
            <a:extLst xmlns:a="http://schemas.openxmlformats.org/drawingml/2006/main">
              <a:ext uri="{FF2B5EF4-FFF2-40B4-BE49-F238E27FC236}">
                <a16:creationId xmlns:a16="http://schemas.microsoft.com/office/drawing/2014/main" id="{37882B09-2470-434C-BD74-1645508A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241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D4ED8"/>
                </a:solidFill>
              </a:defRPr>
            </a:pPr>
            <a:r>
              <a:rPr sz="2550" b="1">
                <a:solidFill>
                  <a:srgbClr val="1D4ED8"/>
                </a:solidFill>
              </a:rPr>
              <a:t>02</a:t>
            </a:r>
          </a:p>
        </p:txBody>
      </p:sp>
      <p:sp>
        <p:nvSpPr>
          <p:cNvPr id="8" name="Resolve-label">
            <a:extLst xmlns:a="http://schemas.openxmlformats.org/drawingml/2006/main">
              <a:ext uri="{FF2B5EF4-FFF2-40B4-BE49-F238E27FC236}">
                <a16:creationId xmlns:a16="http://schemas.microsoft.com/office/drawing/2014/main" id="{7A02E57A-4339-4A30-8803-6E1F3741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8130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Resolve</a:t>
            </a:r>
          </a:p>
        </p:txBody>
      </p:sp>
      <p:sp>
        <p:nvSpPr>
          <p:cNvPr id="9" name="Resolve-detail">
            <a:extLst xmlns:a="http://schemas.openxmlformats.org/drawingml/2006/main">
              <a:ext uri="{FF2B5EF4-FFF2-40B4-BE49-F238E27FC236}">
                <a16:creationId xmlns:a16="http://schemas.microsoft.com/office/drawing/2014/main" id="{1ABCF7B6-8553-4BC9-BB77-A920EAE2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43250"/>
            <a:ext cx="1981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Normalize columns and match duplicate organizations.</a:t>
            </a:r>
          </a:p>
        </p:txBody>
      </p:sp>
      <p:sp>
        <p:nvSpPr>
          <p:cNvPr id="10" name="Detect-number">
            <a:extLst xmlns:a="http://schemas.openxmlformats.org/drawingml/2006/main">
              <a:ext uri="{FF2B5EF4-FFF2-40B4-BE49-F238E27FC236}">
                <a16:creationId xmlns:a16="http://schemas.microsoft.com/office/drawing/2014/main" id="{A52CF383-BCDA-4BD8-8319-070C0FE7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241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45309"/>
                </a:solidFill>
              </a:defRPr>
            </a:pPr>
            <a:r>
              <a:rPr sz="2550" b="1">
                <a:solidFill>
                  <a:srgbClr val="B45309"/>
                </a:solidFill>
              </a:rPr>
              <a:t>03</a:t>
            </a:r>
          </a:p>
        </p:txBody>
      </p:sp>
      <p:sp>
        <p:nvSpPr>
          <p:cNvPr id="11" name="Detect-label">
            <a:extLst xmlns:a="http://schemas.openxmlformats.org/drawingml/2006/main">
              <a:ext uri="{FF2B5EF4-FFF2-40B4-BE49-F238E27FC236}">
                <a16:creationId xmlns:a16="http://schemas.microsoft.com/office/drawing/2014/main" id="{B464A916-504B-4B7C-802C-B0853074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Detect</a:t>
            </a:r>
          </a:p>
        </p:txBody>
      </p:sp>
      <p:sp>
        <p:nvSpPr>
          <p:cNvPr id="12" name="Detect-detail">
            <a:extLst xmlns:a="http://schemas.openxmlformats.org/drawingml/2006/main">
              <a:ext uri="{FF2B5EF4-FFF2-40B4-BE49-F238E27FC236}">
                <a16:creationId xmlns:a16="http://schemas.microsoft.com/office/drawing/2014/main" id="{2E0D36F4-07A6-4EB5-9E70-93313FA6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43250"/>
            <a:ext cx="2209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Surface A -&gt; B -&gt; A and A -&gt; B -&gt; C -&gt; A loops.</a:t>
            </a:r>
          </a:p>
        </p:txBody>
      </p:sp>
      <p:sp>
        <p:nvSpPr>
          <p:cNvPr id="13" name="Explain-number">
            <a:extLst xmlns:a="http://schemas.openxmlformats.org/drawingml/2006/main">
              <a:ext uri="{FF2B5EF4-FFF2-40B4-BE49-F238E27FC236}">
                <a16:creationId xmlns:a16="http://schemas.microsoft.com/office/drawing/2014/main" id="{68F8BB46-E997-42D1-8AC5-81B333CC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3241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91C1C"/>
                </a:solidFill>
              </a:defRPr>
            </a:pPr>
            <a:r>
              <a:rPr sz="2550" b="1">
                <a:solidFill>
                  <a:srgbClr val="B91C1C"/>
                </a:solidFill>
              </a:rPr>
              <a:t>04</a:t>
            </a:r>
          </a:p>
        </p:txBody>
      </p:sp>
      <p:sp>
        <p:nvSpPr>
          <p:cNvPr id="14" name="Explain-label">
            <a:extLst xmlns:a="http://schemas.openxmlformats.org/drawingml/2006/main">
              <a:ext uri="{FF2B5EF4-FFF2-40B4-BE49-F238E27FC236}">
                <a16:creationId xmlns:a16="http://schemas.microsoft.com/office/drawing/2014/main" id="{B4561DA3-1894-42EB-99CE-7813D4C3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781300"/>
            <a:ext cx="4000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Explain</a:t>
            </a:r>
          </a:p>
        </p:txBody>
      </p:sp>
      <p:sp>
        <p:nvSpPr>
          <p:cNvPr id="15" name="Explain-detail">
            <a:extLst xmlns:a="http://schemas.openxmlformats.org/drawingml/2006/main">
              <a:ext uri="{FF2B5EF4-FFF2-40B4-BE49-F238E27FC236}">
                <a16:creationId xmlns:a16="http://schemas.microsoft.com/office/drawing/2014/main" id="{3B47EDA8-9FC2-4C6B-A4EC-13812FE6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3143250"/>
            <a:ext cx="21145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75569"/>
                </a:solidFill>
              </a:defRPr>
            </a:pPr>
            <a:r>
              <a:rPr sz="1275">
                <a:solidFill>
                  <a:srgbClr val="475569"/>
                </a:solidFill>
              </a:rPr>
              <a:t>Rank risky clusters and generate analyst-ready reasoning.</a:t>
            </a:r>
          </a:p>
        </p:txBody>
      </p:sp>
      <p:sp>
        <p:nvSpPr>
          <p:cNvPr id="16" name="workflow-footer">
            <a:extLst xmlns:a="http://schemas.openxmlformats.org/drawingml/2006/main">
              <a:ext uri="{FF2B5EF4-FFF2-40B4-BE49-F238E27FC236}">
                <a16:creationId xmlns:a16="http://schemas.microsoft.com/office/drawing/2014/main" id="{AABAC93E-73CC-4C56-8102-1B842B9D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124950"/>
            <a:ext cx="8858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This keeps the main topic narrow: Funding Loops first, supporting signals second, AI explanation third.</a:t>
            </a:r>
          </a:p>
        </p:txBody>
      </p:sp>
    </p:spTree>
    <p:extLst>
      <p:ext uri="{BB962C8B-B14F-4D97-AF65-F5344CB8AC3E}">
        <p14:creationId xmlns:p14="http://schemas.microsoft.com/office/powerpoint/2010/main" val="17035502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livery architecture-title">
            <a:extLst xmlns:a="http://schemas.openxmlformats.org/drawingml/2006/main">
              <a:ext uri="{FF2B5EF4-FFF2-40B4-BE49-F238E27FC236}">
                <a16:creationId xmlns:a16="http://schemas.microsoft.com/office/drawing/2014/main" id="{77FA5430-C8C1-4D25-938E-94DB859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Delivery architecture</a:t>
            </a:r>
          </a:p>
        </p:txBody>
      </p:sp>
      <p:sp>
        <p:nvSpPr>
          <p:cNvPr id="2" name="Delivery architecture-rule">
            <a:extLst xmlns:a="http://schemas.openxmlformats.org/drawingml/2006/main">
              <a:ext uri="{FF2B5EF4-FFF2-40B4-BE49-F238E27FC236}">
                <a16:creationId xmlns:a16="http://schemas.microsoft.com/office/drawing/2014/main" id="{A1A4B953-E0A2-469D-A3E1-6A3AEF09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Delivery 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E5183FD6-AE20-44B2-BC37-9BEDE416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8858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The current MVP proves the workflow. The production path is straightforward and cloud-native.</a:t>
            </a:r>
          </a:p>
        </p:txBody>
      </p:sp>
      <p:sp>
        <p:nvSpPr>
          <p:cNvPr id="4" name="arch-left-title">
            <a:extLst xmlns:a="http://schemas.openxmlformats.org/drawingml/2006/main">
              <a:ext uri="{FF2B5EF4-FFF2-40B4-BE49-F238E27FC236}">
                <a16:creationId xmlns:a16="http://schemas.microsoft.com/office/drawing/2014/main" id="{6DF250E3-2879-425F-BA95-81696C58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8153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Current working stack</a:t>
            </a:r>
          </a:p>
        </p:txBody>
      </p:sp>
      <p:sp>
        <p:nvSpPr>
          <p:cNvPr id="5" name="FastAPI API and static dashboard-dot">
            <a:extLst xmlns:a="http://schemas.openxmlformats.org/drawingml/2006/main">
              <a:ext uri="{FF2B5EF4-FFF2-40B4-BE49-F238E27FC236}">
                <a16:creationId xmlns:a16="http://schemas.microsoft.com/office/drawing/2014/main" id="{C4EBCA49-72B1-4D9D-9308-943B43C8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FastAPI API and static dashboard-copy">
            <a:extLst xmlns:a="http://schemas.openxmlformats.org/drawingml/2006/main">
              <a:ext uri="{FF2B5EF4-FFF2-40B4-BE49-F238E27FC236}">
                <a16:creationId xmlns:a16="http://schemas.microsoft.com/office/drawing/2014/main" id="{DE4766B9-18DD-472D-A405-C78262D6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38450"/>
            <a:ext cx="786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FastAPI API and static dashboard</a:t>
            </a:r>
          </a:p>
        </p:txBody>
      </p:sp>
      <p:sp>
        <p:nvSpPr>
          <p:cNvPr id="7" name="Python entity-matching and loop analysis helpers-dot">
            <a:extLst xmlns:a="http://schemas.openxmlformats.org/drawingml/2006/main">
              <a:ext uri="{FF2B5EF4-FFF2-40B4-BE49-F238E27FC236}">
                <a16:creationId xmlns:a16="http://schemas.microsoft.com/office/drawing/2014/main" id="{D3E388E9-163E-42A1-9808-4102748E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Python entity-matching and loop analysis helpers-copy">
            <a:extLst xmlns:a="http://schemas.openxmlformats.org/drawingml/2006/main">
              <a:ext uri="{FF2B5EF4-FFF2-40B4-BE49-F238E27FC236}">
                <a16:creationId xmlns:a16="http://schemas.microsoft.com/office/drawing/2014/main" id="{B4DA238F-E5C2-4E6F-B5ED-C2E988BD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14700"/>
            <a:ext cx="786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Python entity-matching and loop analysis helpers</a:t>
            </a:r>
          </a:p>
        </p:txBody>
      </p:sp>
      <p:sp>
        <p:nvSpPr>
          <p:cNvPr id="9" name="Real hackathon data routed from PostgreSQL reports-dot">
            <a:extLst xmlns:a="http://schemas.openxmlformats.org/drawingml/2006/main">
              <a:ext uri="{FF2B5EF4-FFF2-40B4-BE49-F238E27FC236}">
                <a16:creationId xmlns:a16="http://schemas.microsoft.com/office/drawing/2014/main" id="{071030F4-37AD-4A0D-A17F-D9A66A61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Real hackathon data routed from PostgreSQL reports-copy">
            <a:extLst xmlns:a="http://schemas.openxmlformats.org/drawingml/2006/main">
              <a:ext uri="{FF2B5EF4-FFF2-40B4-BE49-F238E27FC236}">
                <a16:creationId xmlns:a16="http://schemas.microsoft.com/office/drawing/2014/main" id="{732B64AC-3405-4C73-8B37-043D3E7B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786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Real hackathon data routed from PostgreSQL reports</a:t>
            </a:r>
          </a:p>
        </p:txBody>
      </p:sp>
      <p:sp>
        <p:nvSpPr>
          <p:cNvPr id="11" name="Upload paths for CSV, Excel, JSONL, and GitHub file links-dot">
            <a:extLst xmlns:a="http://schemas.openxmlformats.org/drawingml/2006/main">
              <a:ext uri="{FF2B5EF4-FFF2-40B4-BE49-F238E27FC236}">
                <a16:creationId xmlns:a16="http://schemas.microsoft.com/office/drawing/2014/main" id="{456F12ED-9F61-42C5-8ACE-B211C68B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Upload paths for CSV, Excel, JSONL, and GitHub file links-copy">
            <a:extLst xmlns:a="http://schemas.openxmlformats.org/drawingml/2006/main">
              <a:ext uri="{FF2B5EF4-FFF2-40B4-BE49-F238E27FC236}">
                <a16:creationId xmlns:a16="http://schemas.microsoft.com/office/drawing/2014/main" id="{7AC48BB2-B28F-4BF0-B7E2-54652248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786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Upload paths for CSV, Excel, JSONL, and GitHub file links</a:t>
            </a:r>
          </a:p>
        </p:txBody>
      </p:sp>
      <p:sp>
        <p:nvSpPr>
          <p:cNvPr id="13" name="arch-right-title">
            <a:extLst xmlns:a="http://schemas.openxmlformats.org/drawingml/2006/main">
              <a:ext uri="{FF2B5EF4-FFF2-40B4-BE49-F238E27FC236}">
                <a16:creationId xmlns:a16="http://schemas.microsoft.com/office/drawing/2014/main" id="{185D320F-1DB4-483F-A715-4F438A5A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8153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Production target</a:t>
            </a:r>
          </a:p>
        </p:txBody>
      </p:sp>
      <p:sp>
        <p:nvSpPr>
          <p:cNvPr id="14" name="Cloud Run for API and job execution-dot">
            <a:extLst xmlns:a="http://schemas.openxmlformats.org/drawingml/2006/main">
              <a:ext uri="{FF2B5EF4-FFF2-40B4-BE49-F238E27FC236}">
                <a16:creationId xmlns:a16="http://schemas.microsoft.com/office/drawing/2014/main" id="{B3AF040C-2674-454C-BD44-CAD3C00C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3845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5" name="Cloud Run for API and job execution-copy">
            <a:extLst xmlns:a="http://schemas.openxmlformats.org/drawingml/2006/main">
              <a:ext uri="{FF2B5EF4-FFF2-40B4-BE49-F238E27FC236}">
                <a16:creationId xmlns:a16="http://schemas.microsoft.com/office/drawing/2014/main" id="{3BE7DDF7-4F84-41C9-86F6-C6A1FBC1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38450"/>
            <a:ext cx="786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Cloud Run for API and job execution</a:t>
            </a:r>
          </a:p>
        </p:txBody>
      </p:sp>
      <p:sp>
        <p:nvSpPr>
          <p:cNvPr id="16" name="Cloud Storage for uploads and result artifacts-dot">
            <a:extLst xmlns:a="http://schemas.openxmlformats.org/drawingml/2006/main">
              <a:ext uri="{FF2B5EF4-FFF2-40B4-BE49-F238E27FC236}">
                <a16:creationId xmlns:a16="http://schemas.microsoft.com/office/drawing/2014/main" id="{FA1B6FF6-AC0E-4E5E-8842-82FD0B99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1470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7" name="Cloud Storage for uploads and result artifacts-copy">
            <a:extLst xmlns:a="http://schemas.openxmlformats.org/drawingml/2006/main">
              <a:ext uri="{FF2B5EF4-FFF2-40B4-BE49-F238E27FC236}">
                <a16:creationId xmlns:a16="http://schemas.microsoft.com/office/drawing/2014/main" id="{96AC20C5-B2E7-465C-AFA5-F3B4B248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14700"/>
            <a:ext cx="786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Cloud Storage for uploads and result artifacts</a:t>
            </a:r>
          </a:p>
        </p:txBody>
      </p:sp>
      <p:sp>
        <p:nvSpPr>
          <p:cNvPr id="18" name="BigQuery for scalable joins and enrichment-dot">
            <a:extLst xmlns:a="http://schemas.openxmlformats.org/drawingml/2006/main">
              <a:ext uri="{FF2B5EF4-FFF2-40B4-BE49-F238E27FC236}">
                <a16:creationId xmlns:a16="http://schemas.microsoft.com/office/drawing/2014/main" id="{12A58466-A142-44C1-AC14-1A3D7AD5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9095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9" name="BigQuery for scalable joins and enrichment-copy">
            <a:extLst xmlns:a="http://schemas.openxmlformats.org/drawingml/2006/main">
              <a:ext uri="{FF2B5EF4-FFF2-40B4-BE49-F238E27FC236}">
                <a16:creationId xmlns:a16="http://schemas.microsoft.com/office/drawing/2014/main" id="{8B403F43-11FF-4FDC-8546-5479C943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90950"/>
            <a:ext cx="786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BigQuery for scalable joins and enrichment</a:t>
            </a:r>
          </a:p>
        </p:txBody>
      </p:sp>
      <p:sp>
        <p:nvSpPr>
          <p:cNvPr id="20" name="Optional Vertex AI for plain-language explanations-dot">
            <a:extLst xmlns:a="http://schemas.openxmlformats.org/drawingml/2006/main">
              <a:ext uri="{FF2B5EF4-FFF2-40B4-BE49-F238E27FC236}">
                <a16:creationId xmlns:a16="http://schemas.microsoft.com/office/drawing/2014/main" id="{5CDC4465-9E7D-4CF5-880C-D795B5DC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4815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1" name="Optional Vertex AI for plain-language explanations-copy">
            <a:extLst xmlns:a="http://schemas.openxmlformats.org/drawingml/2006/main">
              <a:ext uri="{FF2B5EF4-FFF2-40B4-BE49-F238E27FC236}">
                <a16:creationId xmlns:a16="http://schemas.microsoft.com/office/drawing/2014/main" id="{1FB6EB83-7B28-4FE6-9431-7335AA73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48150"/>
            <a:ext cx="7867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Optional Vertex AI for plain-language explanations</a:t>
            </a:r>
          </a:p>
        </p:txBody>
      </p:sp>
    </p:spTree>
    <p:extLst>
      <p:ext uri="{BB962C8B-B14F-4D97-AF65-F5344CB8AC3E}">
        <p14:creationId xmlns:p14="http://schemas.microsoft.com/office/powerpoint/2010/main" val="5230667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90-day implementation path-title">
            <a:extLst xmlns:a="http://schemas.openxmlformats.org/drawingml/2006/main">
              <a:ext uri="{FF2B5EF4-FFF2-40B4-BE49-F238E27FC236}">
                <a16:creationId xmlns:a16="http://schemas.microsoft.com/office/drawing/2014/main" id="{F7E9C072-948A-4822-A7CF-60726411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90-day implementation path</a:t>
            </a:r>
          </a:p>
        </p:txBody>
      </p:sp>
      <p:sp>
        <p:nvSpPr>
          <p:cNvPr id="2" name="90-day implementation path-rule">
            <a:extLst xmlns:a="http://schemas.openxmlformats.org/drawingml/2006/main">
              <a:ext uri="{FF2B5EF4-FFF2-40B4-BE49-F238E27FC236}">
                <a16:creationId xmlns:a16="http://schemas.microsoft.com/office/drawing/2014/main" id="{0741F361-839C-4BE4-AC4D-DCF7F490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90-day implementation path-subtitle">
            <a:extLst xmlns:a="http://schemas.openxmlformats.org/drawingml/2006/main">
              <a:ext uri="{FF2B5EF4-FFF2-40B4-BE49-F238E27FC236}">
                <a16:creationId xmlns:a16="http://schemas.microsoft.com/office/drawing/2014/main" id="{F557B4D1-A53C-47C4-B451-F398C73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1068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A vendor can land this in controlled phases: working pilot first, shared cloud delivery second, enterprise workflow third.</a:t>
            </a:r>
          </a:p>
        </p:txBody>
      </p:sp>
      <p:sp>
        <p:nvSpPr>
          <p:cNvPr id="4" name="Phase 1-eyebrow">
            <a:extLst xmlns:a="http://schemas.openxmlformats.org/drawingml/2006/main">
              <a:ext uri="{FF2B5EF4-FFF2-40B4-BE49-F238E27FC236}">
                <a16:creationId xmlns:a16="http://schemas.microsoft.com/office/drawing/2014/main" id="{ECDBA3D4-AFE3-4319-AB98-E85B74C9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5353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Phase 1</a:t>
            </a:r>
          </a:p>
        </p:txBody>
      </p:sp>
      <p:sp>
        <p:nvSpPr>
          <p:cNvPr id="5" name="Phase 1-title">
            <a:extLst xmlns:a="http://schemas.openxmlformats.org/drawingml/2006/main">
              <a:ext uri="{FF2B5EF4-FFF2-40B4-BE49-F238E27FC236}">
                <a16:creationId xmlns:a16="http://schemas.microsoft.com/office/drawing/2014/main" id="{B11213D6-D697-451F-8C2A-EC7F2704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5353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Analyst pilot</a:t>
            </a:r>
          </a:p>
        </p:txBody>
      </p:sp>
      <p:sp>
        <p:nvSpPr>
          <p:cNvPr id="6" name="Phase 1-line-0">
            <a:extLst xmlns:a="http://schemas.openxmlformats.org/drawingml/2006/main">
              <a:ext uri="{FF2B5EF4-FFF2-40B4-BE49-F238E27FC236}">
                <a16:creationId xmlns:a16="http://schemas.microsoft.com/office/drawing/2014/main" id="{ABC8390C-D101-4257-AFBD-F603CDA9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48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Load real source data</a:t>
            </a:r>
          </a:p>
        </p:txBody>
      </p:sp>
      <p:sp>
        <p:nvSpPr>
          <p:cNvPr id="7" name="Phase 1-line-1">
            <a:extLst xmlns:a="http://schemas.openxmlformats.org/drawingml/2006/main">
              <a:ext uri="{FF2B5EF4-FFF2-40B4-BE49-F238E27FC236}">
                <a16:creationId xmlns:a16="http://schemas.microsoft.com/office/drawing/2014/main" id="{1418AFA9-476F-4737-AC73-E6D58AED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171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Run loop detection and scoring</a:t>
            </a:r>
          </a:p>
        </p:txBody>
      </p:sp>
      <p:sp>
        <p:nvSpPr>
          <p:cNvPr id="8" name="Phase 1-line-2">
            <a:extLst xmlns:a="http://schemas.openxmlformats.org/drawingml/2006/main">
              <a:ext uri="{FF2B5EF4-FFF2-40B4-BE49-F238E27FC236}">
                <a16:creationId xmlns:a16="http://schemas.microsoft.com/office/drawing/2014/main" id="{64601F11-B310-40BD-907F-A682AE25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Validate output with domain reviewers</a:t>
            </a:r>
          </a:p>
        </p:txBody>
      </p:sp>
      <p:sp>
        <p:nvSpPr>
          <p:cNvPr id="9" name="Phase 2-eyebrow">
            <a:extLst xmlns:a="http://schemas.openxmlformats.org/drawingml/2006/main">
              <a:ext uri="{FF2B5EF4-FFF2-40B4-BE49-F238E27FC236}">
                <a16:creationId xmlns:a16="http://schemas.microsoft.com/office/drawing/2014/main" id="{1E26983D-A2B1-42CD-AA80-638A15A0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353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Phase 2</a:t>
            </a:r>
          </a:p>
        </p:txBody>
      </p:sp>
      <p:sp>
        <p:nvSpPr>
          <p:cNvPr id="10" name="Phase 2-title">
            <a:extLst xmlns:a="http://schemas.openxmlformats.org/drawingml/2006/main">
              <a:ext uri="{FF2B5EF4-FFF2-40B4-BE49-F238E27FC236}">
                <a16:creationId xmlns:a16="http://schemas.microsoft.com/office/drawing/2014/main" id="{15E9206D-6A6D-4260-A173-82B2CE5F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5353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Shared cloud deployment</a:t>
            </a:r>
          </a:p>
        </p:txBody>
      </p:sp>
      <p:sp>
        <p:nvSpPr>
          <p:cNvPr id="11" name="Phase 2-line-0">
            <a:extLst xmlns:a="http://schemas.openxmlformats.org/drawingml/2006/main">
              <a:ext uri="{FF2B5EF4-FFF2-40B4-BE49-F238E27FC236}">
                <a16:creationId xmlns:a16="http://schemas.microsoft.com/office/drawing/2014/main" id="{DDD6D298-5C84-4049-9B00-C9AECEB9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3067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Move uploads and jobs to managed services</a:t>
            </a:r>
          </a:p>
        </p:txBody>
      </p:sp>
      <p:sp>
        <p:nvSpPr>
          <p:cNvPr id="12" name="Phase 2-line-1">
            <a:extLst xmlns:a="http://schemas.openxmlformats.org/drawingml/2006/main">
              <a:ext uri="{FF2B5EF4-FFF2-40B4-BE49-F238E27FC236}">
                <a16:creationId xmlns:a16="http://schemas.microsoft.com/office/drawing/2014/main" id="{69AF5CAA-0B6D-4163-AFC4-42A92B60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2838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Set up BigQuery staging and refresh logic</a:t>
            </a:r>
          </a:p>
        </p:txBody>
      </p:sp>
      <p:sp>
        <p:nvSpPr>
          <p:cNvPr id="13" name="Phase 2-line-2">
            <a:extLst xmlns:a="http://schemas.openxmlformats.org/drawingml/2006/main">
              <a:ext uri="{FF2B5EF4-FFF2-40B4-BE49-F238E27FC236}">
                <a16:creationId xmlns:a16="http://schemas.microsoft.com/office/drawing/2014/main" id="{B8F5EC9D-479E-4A86-BF23-C03920E3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71900"/>
            <a:ext cx="2514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Harden audit trails and export paths</a:t>
            </a:r>
          </a:p>
        </p:txBody>
      </p:sp>
      <p:sp>
        <p:nvSpPr>
          <p:cNvPr id="14" name="Phase 3-eyebrow">
            <a:extLst xmlns:a="http://schemas.openxmlformats.org/drawingml/2006/main">
              <a:ext uri="{FF2B5EF4-FFF2-40B4-BE49-F238E27FC236}">
                <a16:creationId xmlns:a16="http://schemas.microsoft.com/office/drawing/2014/main" id="{9AE61755-2844-40A4-A36A-9A62031E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095500"/>
            <a:ext cx="5353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Phase 3</a:t>
            </a:r>
          </a:p>
        </p:txBody>
      </p:sp>
      <p:sp>
        <p:nvSpPr>
          <p:cNvPr id="15" name="Phase 3-title">
            <a:extLst xmlns:a="http://schemas.openxmlformats.org/drawingml/2006/main">
              <a:ext uri="{FF2B5EF4-FFF2-40B4-BE49-F238E27FC236}">
                <a16:creationId xmlns:a16="http://schemas.microsoft.com/office/drawing/2014/main" id="{B9F3A761-477E-439B-AAE9-3F99271F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419350"/>
            <a:ext cx="5353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Operational rollout</a:t>
            </a:r>
          </a:p>
        </p:txBody>
      </p:sp>
      <p:sp>
        <p:nvSpPr>
          <p:cNvPr id="16" name="Phase 3-line-0">
            <a:extLst xmlns:a="http://schemas.openxmlformats.org/drawingml/2006/main">
              <a:ext uri="{FF2B5EF4-FFF2-40B4-BE49-F238E27FC236}">
                <a16:creationId xmlns:a16="http://schemas.microsoft.com/office/drawing/2014/main" id="{E9B0CF35-51D8-48B4-A328-04598423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876550"/>
            <a:ext cx="2552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Analyst notes and case management</a:t>
            </a:r>
          </a:p>
        </p:txBody>
      </p:sp>
      <p:sp>
        <p:nvSpPr>
          <p:cNvPr id="17" name="Phase 3-line-1">
            <a:extLst xmlns:a="http://schemas.openxmlformats.org/drawingml/2006/main">
              <a:ext uri="{FF2B5EF4-FFF2-40B4-BE49-F238E27FC236}">
                <a16:creationId xmlns:a16="http://schemas.microsoft.com/office/drawing/2014/main" id="{C7AF43C4-054E-4326-8791-F12D6ABF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429000"/>
            <a:ext cx="2838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Search, filters, and scheduled monitoring</a:t>
            </a:r>
          </a:p>
        </p:txBody>
      </p:sp>
      <p:sp>
        <p:nvSpPr>
          <p:cNvPr id="18" name="Phase 3-line-2">
            <a:extLst xmlns:a="http://schemas.openxmlformats.org/drawingml/2006/main">
              <a:ext uri="{FF2B5EF4-FFF2-40B4-BE49-F238E27FC236}">
                <a16:creationId xmlns:a16="http://schemas.microsoft.com/office/drawing/2014/main" id="{52D10E59-7565-4C33-8759-00216417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3962400"/>
            <a:ext cx="2914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75569"/>
                </a:solidFill>
              </a:defRPr>
            </a:pPr>
            <a:r>
              <a:rPr sz="1350">
                <a:solidFill>
                  <a:srgbClr val="475569"/>
                </a:solidFill>
              </a:rPr>
              <a:t>Optional AI narrative and PDF brief export</a:t>
            </a:r>
          </a:p>
        </p:txBody>
      </p:sp>
    </p:spTree>
    <p:extLst>
      <p:ext uri="{BB962C8B-B14F-4D97-AF65-F5344CB8AC3E}">
        <p14:creationId xmlns:p14="http://schemas.microsoft.com/office/powerpoint/2010/main" val="10834771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hy this is a credible vendor offer-title">
            <a:extLst xmlns:a="http://schemas.openxmlformats.org/drawingml/2006/main">
              <a:ext uri="{FF2B5EF4-FFF2-40B4-BE49-F238E27FC236}">
                <a16:creationId xmlns:a16="http://schemas.microsoft.com/office/drawing/2014/main" id="{850655F0-6816-4F8F-A1DA-2B79E52E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66878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Why this is a credible vendor offer</a:t>
            </a:r>
          </a:p>
        </p:txBody>
      </p:sp>
      <p:sp>
        <p:nvSpPr>
          <p:cNvPr id="2" name="Why this is a credible vendor offer-rule">
            <a:extLst xmlns:a="http://schemas.openxmlformats.org/drawingml/2006/main">
              <a:ext uri="{FF2B5EF4-FFF2-40B4-BE49-F238E27FC236}">
                <a16:creationId xmlns:a16="http://schemas.microsoft.com/office/drawing/2014/main" id="{07FF5935-93DB-4869-95F5-7B6EE83E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Why this is a credible vendor offer-subtitle">
            <a:extLst xmlns:a="http://schemas.openxmlformats.org/drawingml/2006/main">
              <a:ext uri="{FF2B5EF4-FFF2-40B4-BE49-F238E27FC236}">
                <a16:creationId xmlns:a16="http://schemas.microsoft.com/office/drawing/2014/main" id="{17B9F03C-B4BF-4147-94F7-2C7F32A9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2458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</a:defRPr>
            </a:pPr>
            <a:r>
              <a:rPr sz="1800">
                <a:solidFill>
                  <a:srgbClr val="475569"/>
                </a:solidFill>
              </a:rPr>
              <a:t>The commercial angle is not a vague fraud platform. It is a narrowly scoped public-funding risk workflow backed by real evidence and a clear buyer story.</a:t>
            </a:r>
          </a:p>
        </p:txBody>
      </p:sp>
      <p:sp>
        <p:nvSpPr>
          <p:cNvPr id="4" name="Clear buyer pain: cross-dataset blind spots and manual review effort-dot">
            <a:extLst xmlns:a="http://schemas.openxmlformats.org/drawingml/2006/main">
              <a:ext uri="{FF2B5EF4-FFF2-40B4-BE49-F238E27FC236}">
                <a16:creationId xmlns:a16="http://schemas.microsoft.com/office/drawing/2014/main" id="{1A442BAA-2B7A-4DAC-9229-718E2DCD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766E"/>
                </a:solidFill>
              </a:defRPr>
            </a:pPr>
            <a:r>
              <a:rPr sz="21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5" name="Clear buyer pain: cross-dataset blind spots and manual review effort-copy">
            <a:extLst xmlns:a="http://schemas.openxmlformats.org/drawingml/2006/main">
              <a:ext uri="{FF2B5EF4-FFF2-40B4-BE49-F238E27FC236}">
                <a16:creationId xmlns:a16="http://schemas.microsoft.com/office/drawing/2014/main" id="{277F7DED-CAA1-45DA-9217-A3830C38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853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Clear buyer pain: cross-dataset blind spots and manual review effort</a:t>
            </a:r>
          </a:p>
        </p:txBody>
      </p:sp>
      <p:sp>
        <p:nvSpPr>
          <p:cNvPr id="6" name="Clear evidence base: real loop results across roughly 23 million public records-dot">
            <a:extLst xmlns:a="http://schemas.openxmlformats.org/drawingml/2006/main">
              <a:ext uri="{FF2B5EF4-FFF2-40B4-BE49-F238E27FC236}">
                <a16:creationId xmlns:a16="http://schemas.microsoft.com/office/drawing/2014/main" id="{8DC360B7-BB93-4C38-8337-84CB9125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4ED8"/>
                </a:solidFill>
              </a:defRPr>
            </a:pPr>
            <a:r>
              <a:rPr sz="2100" b="1">
                <a:solidFill>
                  <a:srgbClr val="1D4ED8"/>
                </a:solidFill>
              </a:rPr>
              <a:t>•</a:t>
            </a:r>
          </a:p>
        </p:txBody>
      </p:sp>
      <p:sp>
        <p:nvSpPr>
          <p:cNvPr id="7" name="Clear evidence base: real loop results across roughly 23 million public records-copy">
            <a:extLst xmlns:a="http://schemas.openxmlformats.org/drawingml/2006/main">
              <a:ext uri="{FF2B5EF4-FFF2-40B4-BE49-F238E27FC236}">
                <a16:creationId xmlns:a16="http://schemas.microsoft.com/office/drawing/2014/main" id="{26292539-1272-4299-B973-3BB33384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853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Clear evidence base: real loop results across roughly 23 million public records</a:t>
            </a:r>
          </a:p>
        </p:txBody>
      </p:sp>
      <p:sp>
        <p:nvSpPr>
          <p:cNvPr id="8" name="Clear implementation path: MVP already working, cloud migration already mapped-dot">
            <a:extLst xmlns:a="http://schemas.openxmlformats.org/drawingml/2006/main">
              <a:ext uri="{FF2B5EF4-FFF2-40B4-BE49-F238E27FC236}">
                <a16:creationId xmlns:a16="http://schemas.microsoft.com/office/drawing/2014/main" id="{5DAD6763-D64A-4C7C-BE73-DA8E679F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•</a:t>
            </a:r>
          </a:p>
        </p:txBody>
      </p:sp>
      <p:sp>
        <p:nvSpPr>
          <p:cNvPr id="9" name="Clear implementation path: MVP already working, cloud migration already mapped-copy">
            <a:extLst xmlns:a="http://schemas.openxmlformats.org/drawingml/2006/main">
              <a:ext uri="{FF2B5EF4-FFF2-40B4-BE49-F238E27FC236}">
                <a16:creationId xmlns:a16="http://schemas.microsoft.com/office/drawing/2014/main" id="{A79AEE2E-9EFC-43BC-883F-4C3D489A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853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Clear implementation path: MVP already working, cloud migration already mapped</a:t>
            </a:r>
          </a:p>
        </p:txBody>
      </p:sp>
      <p:sp>
        <p:nvSpPr>
          <p:cNvPr id="10" name="Clear product message: hidden funding ecosystems, not just anomalies-dot">
            <a:extLst xmlns:a="http://schemas.openxmlformats.org/drawingml/2006/main">
              <a:ext uri="{FF2B5EF4-FFF2-40B4-BE49-F238E27FC236}">
                <a16:creationId xmlns:a16="http://schemas.microsoft.com/office/drawing/2014/main" id="{26592631-70BD-4513-8A05-E00C1299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5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45309"/>
                </a:solidFill>
              </a:defRPr>
            </a:pPr>
            <a:r>
              <a:rPr sz="2100" b="1">
                <a:solidFill>
                  <a:srgbClr val="B45309"/>
                </a:solidFill>
              </a:rPr>
              <a:t>•</a:t>
            </a:r>
          </a:p>
        </p:txBody>
      </p:sp>
      <p:sp>
        <p:nvSpPr>
          <p:cNvPr id="11" name="Clear product message: hidden funding ecosystems, not just anomalies-copy">
            <a:extLst xmlns:a="http://schemas.openxmlformats.org/drawingml/2006/main">
              <a:ext uri="{FF2B5EF4-FFF2-40B4-BE49-F238E27FC236}">
                <a16:creationId xmlns:a16="http://schemas.microsoft.com/office/drawing/2014/main" id="{E970EF30-EFAE-43F4-BBF2-BF744686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853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F172A"/>
                </a:solidFill>
              </a:defRPr>
            </a:pPr>
            <a:r>
              <a:rPr sz="1650">
                <a:solidFill>
                  <a:srgbClr val="0F172A"/>
                </a:solidFill>
              </a:rPr>
              <a:t>Clear product message: hidden funding ecosystems, not just anomalies</a:t>
            </a:r>
          </a:p>
        </p:txBody>
      </p:sp>
      <p:sp>
        <p:nvSpPr>
          <p:cNvPr id="12" name="offer-title">
            <a:extLst xmlns:a="http://schemas.openxmlformats.org/drawingml/2006/main">
              <a:ext uri="{FF2B5EF4-FFF2-40B4-BE49-F238E27FC236}">
                <a16:creationId xmlns:a16="http://schemas.microsoft.com/office/drawing/2014/main" id="{3DF6FE3F-CC29-4A1C-B11B-0C7A0DA2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43150"/>
            <a:ext cx="7524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Recommended offer</a:t>
            </a:r>
          </a:p>
        </p:txBody>
      </p:sp>
      <p:sp>
        <p:nvSpPr>
          <p:cNvPr id="13" name="offer-copy">
            <a:extLst xmlns:a="http://schemas.openxmlformats.org/drawingml/2006/main">
              <a:ext uri="{FF2B5EF4-FFF2-40B4-BE49-F238E27FC236}">
                <a16:creationId xmlns:a16="http://schemas.microsoft.com/office/drawing/2014/main" id="{FE722B55-F922-4515-B83D-5B998B18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00350"/>
            <a:ext cx="65151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 ministry-ready Public Funding Risk Scanner that turns messy uploads into a ranked loop-risk brief with evidence, explanation, and network context.</a:t>
            </a:r>
          </a:p>
        </p:txBody>
      </p:sp>
      <p:sp>
        <p:nvSpPr>
          <p:cNvPr id="14" name="offer-pilot">
            <a:extLst xmlns:a="http://schemas.openxmlformats.org/drawingml/2006/main">
              <a:ext uri="{FF2B5EF4-FFF2-40B4-BE49-F238E27FC236}">
                <a16:creationId xmlns:a16="http://schemas.microsoft.com/office/drawing/2014/main" id="{BF7AD82F-A7EF-408A-A219-2492D884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33800"/>
            <a:ext cx="6248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Best first customer motion: pilot with a grants, integrity, or assurance team using one high-value workflow and one known dataset bundle.</a:t>
            </a:r>
          </a:p>
        </p:txBody>
      </p:sp>
    </p:spTree>
    <p:extLst>
      <p:ext uri="{BB962C8B-B14F-4D97-AF65-F5344CB8AC3E}">
        <p14:creationId xmlns:p14="http://schemas.microsoft.com/office/powerpoint/2010/main" val="15386324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Next step-title">
            <a:extLst xmlns:a="http://schemas.openxmlformats.org/drawingml/2006/main">
              <a:ext uri="{FF2B5EF4-FFF2-40B4-BE49-F238E27FC236}">
                <a16:creationId xmlns:a16="http://schemas.microsoft.com/office/drawing/2014/main" id="{0D71FC47-5208-4962-B371-BE8BCBC5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81050"/>
            <a:ext cx="16611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Next step</a:t>
            </a:r>
          </a:p>
        </p:txBody>
      </p:sp>
      <p:sp>
        <p:nvSpPr>
          <p:cNvPr id="2" name="Next step-rule">
            <a:extLst xmlns:a="http://schemas.openxmlformats.org/drawingml/2006/main">
              <a:ext uri="{FF2B5EF4-FFF2-40B4-BE49-F238E27FC236}">
                <a16:creationId xmlns:a16="http://schemas.microsoft.com/office/drawing/2014/main" id="{0337E550-4811-4CCC-8B4E-BC13988A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3" name="Next step-subtitle">
            <a:extLst xmlns:a="http://schemas.openxmlformats.org/drawingml/2006/main">
              <a:ext uri="{FF2B5EF4-FFF2-40B4-BE49-F238E27FC236}">
                <a16:creationId xmlns:a16="http://schemas.microsoft.com/office/drawing/2014/main" id="{70DC1E3C-620D-4FB1-A470-C7FEDCA8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12230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>
                    <a:alpha val="84000"/>
                  </a:srgbClr>
                </a:solidFill>
              </a:defRPr>
            </a:pPr>
            <a:r>
              <a:rPr sz="1800">
                <a:solidFill>
                  <a:srgbClr val="FFFFFF">
                    <a:alpha val="84000"/>
                  </a:srgbClr>
                </a:solidFill>
              </a:rPr>
              <a:t>Package this as a 6 to 10 week ministry pilot: one dataset lane, one analyst team, one ranked report workflow, and one clear success measure.</a:t>
            </a:r>
          </a:p>
        </p:txBody>
      </p:sp>
      <p:sp>
        <p:nvSpPr>
          <p:cNvPr id="4" name="close-statement">
            <a:extLst xmlns:a="http://schemas.openxmlformats.org/drawingml/2006/main">
              <a:ext uri="{FF2B5EF4-FFF2-40B4-BE49-F238E27FC236}">
                <a16:creationId xmlns:a16="http://schemas.microsoft.com/office/drawing/2014/main" id="{EFC1FDF4-6471-4472-A6CF-7CB0DDAF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3449300" cy="6591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The product story is ready: a focused Funding Loops scanner that reveals hidden funding ecosystems and gives reviewers a faster, more defensible path to escalation.</a:t>
            </a:r>
          </a:p>
        </p:txBody>
      </p:sp>
      <p:sp>
        <p:nvSpPr>
          <p:cNvPr id="5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9DA91D47-312F-4370-8D1E-8EFBF54D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277350"/>
            <a:ext cx="9410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>
                    <a:alpha val="76000"/>
                  </a:srgbClr>
                </a:solidFill>
              </a:defRPr>
            </a:pPr>
            <a:r>
              <a:rPr sz="1500">
                <a:solidFill>
                  <a:srgbClr val="FFFFFF">
                    <a:alpha val="76000"/>
                  </a:srgbClr>
                </a:solidFill>
              </a:rPr>
              <a:t>Deliverables included with this brief: vendor report, editable deck, working MVP app, and real-data Funding Loops results.</a:t>
            </a:r>
          </a:p>
        </p:txBody>
      </p:sp>
    </p:spTree>
    <p:extLst>
      <p:ext uri="{BB962C8B-B14F-4D97-AF65-F5344CB8AC3E}">
        <p14:creationId xmlns:p14="http://schemas.microsoft.com/office/powerpoint/2010/main" val="1223869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2026-04-28T23:31:13.0210000Z</dcterms:created>
  <dcterms:modified xsi:type="dcterms:W3CDTF">2026-04-28T23:31:13.0210000Z</dcterms:modified>
</coreProperties>
</file>